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2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4B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gitee.com/RainyGao/DocSy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skill.md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agent.md/" TargetMode="External"/><Relationship Id="rId2" Type="http://schemas.openxmlformats.org/officeDocument/2006/relationships/hyperlink" Target="http://skill.md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agentskills.io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ee.com/RainyGao/DocSys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FB0C60-DB86-5EF6-62B7-F86F4C22B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1225816"/>
          </a:xfrm>
        </p:spPr>
        <p:txBody>
          <a:bodyPr>
            <a:normAutofit/>
          </a:bodyPr>
          <a:lstStyle/>
          <a:p>
            <a:r>
              <a:rPr lang="zh-CN" altLang="zh-CN" b="1" dirty="0">
                <a:solidFill>
                  <a:schemeClr val="accent4">
                    <a:lumMod val="75000"/>
                  </a:schemeClr>
                </a:solidFill>
              </a:rPr>
              <a:t>M</a:t>
            </a:r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</a:rPr>
              <a:t>XS</a:t>
            </a:r>
            <a:r>
              <a:rPr lang="zh-CN" altLang="zh-CN" b="1" dirty="0">
                <a:solidFill>
                  <a:schemeClr val="accent4">
                    <a:lumMod val="75000"/>
                  </a:schemeClr>
                </a:solidFill>
              </a:rPr>
              <a:t>D</a:t>
            </a:r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</a:rPr>
              <a:t>OC</a:t>
            </a:r>
            <a:r>
              <a:rPr lang="zh-CN" altLang="zh-CN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zh-CN" altLang="zh-CN" b="1" dirty="0">
                <a:solidFill>
                  <a:srgbClr val="934BC9"/>
                </a:solidFill>
              </a:rPr>
              <a:t>AI</a:t>
            </a:r>
            <a:br>
              <a:rPr lang="en-US" altLang="zh-CN" dirty="0"/>
            </a:br>
            <a:r>
              <a:rPr lang="zh-CN" altLang="zh-CN" sz="2200" dirty="0">
                <a:solidFill>
                  <a:schemeClr val="bg2">
                    <a:lumMod val="25000"/>
                  </a:schemeClr>
                </a:solidFill>
              </a:rPr>
              <a:t>—— 基于 AgentTeams 的企业文档多 Agent 协同基座</a:t>
            </a:r>
            <a:endParaRPr lang="zh-CN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250F4DC-98DB-0465-6475-DCFD3A72E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1069" y="2914408"/>
            <a:ext cx="9144000" cy="3413239"/>
          </a:xfrm>
        </p:spPr>
        <p:txBody>
          <a:bodyPr>
            <a:normAutofit/>
          </a:bodyPr>
          <a:lstStyle/>
          <a:p>
            <a:endParaRPr lang="en-US" altLang="zh-CN" sz="2000" dirty="0">
              <a:solidFill>
                <a:srgbClr val="00B050"/>
              </a:solidFill>
            </a:endParaRPr>
          </a:p>
          <a:p>
            <a:endParaRPr lang="en-US" altLang="zh-CN" sz="2000" dirty="0">
              <a:solidFill>
                <a:srgbClr val="00B050"/>
              </a:solidFill>
            </a:endParaRPr>
          </a:p>
          <a:p>
            <a:pPr lvl="0" algn="l"/>
            <a:r>
              <a:rPr lang="en-US" altLang="zh-CN" sz="1800" dirty="0">
                <a:solidFill>
                  <a:schemeClr val="bg2">
                    <a:lumMod val="50000"/>
                  </a:schemeClr>
                </a:solidFill>
              </a:rPr>
              <a:t>                     </a:t>
            </a:r>
            <a:r>
              <a:rPr lang="zh-CN" altLang="zh-CN" sz="1800" dirty="0">
                <a:solidFill>
                  <a:schemeClr val="bg2">
                    <a:lumMod val="50000"/>
                  </a:schemeClr>
                </a:solidFill>
              </a:rPr>
              <a:t>赛道：新智基座（Agent Infra） | 个人参赛</a:t>
            </a:r>
          </a:p>
          <a:p>
            <a:pPr lvl="0" algn="l"/>
            <a:r>
              <a:rPr lang="en-US" altLang="zh-CN" sz="1800" dirty="0">
                <a:solidFill>
                  <a:schemeClr val="bg2">
                    <a:lumMod val="50000"/>
                  </a:schemeClr>
                </a:solidFill>
              </a:rPr>
              <a:t>                     </a:t>
            </a:r>
            <a:r>
              <a:rPr lang="zh-CN" altLang="zh-CN" sz="1800" dirty="0">
                <a:solidFill>
                  <a:schemeClr val="bg2">
                    <a:lumMod val="50000"/>
                  </a:schemeClr>
                </a:solidFill>
              </a:rPr>
              <a:t>开源：</a:t>
            </a:r>
            <a:r>
              <a:rPr lang="zh-CN" altLang="zh-CN" sz="1800" u="sng" dirty="0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gitee.com/RainyGao/DocSys（GPL</a:t>
            </a:r>
            <a:r>
              <a:rPr lang="zh-CN" altLang="zh-CN" sz="1800" u="sng" dirty="0">
                <a:solidFill>
                  <a:schemeClr val="accent1"/>
                </a:solidFill>
              </a:rPr>
              <a:t> 2.0）</a:t>
            </a:r>
          </a:p>
          <a:p>
            <a:pPr lvl="0" algn="l"/>
            <a:r>
              <a:rPr lang="en-US" altLang="zh-CN" sz="1800" dirty="0">
                <a:solidFill>
                  <a:schemeClr val="bg2">
                    <a:lumMod val="50000"/>
                  </a:schemeClr>
                </a:solidFill>
              </a:rPr>
              <a:t>                     </a:t>
            </a:r>
            <a:r>
              <a:rPr lang="zh-CN" altLang="zh-CN" sz="1800" dirty="0">
                <a:solidFill>
                  <a:schemeClr val="bg2">
                    <a:lumMod val="50000"/>
                  </a:schemeClr>
                </a:solidFill>
              </a:rPr>
              <a:t>技术栈：Java 8 + Spring MVC + MyBatis + OkHttp + Micrometer + Bucket4j</a:t>
            </a:r>
          </a:p>
          <a:p>
            <a:endParaRPr lang="en-US" altLang="zh-CN" sz="2000" dirty="0">
              <a:solidFill>
                <a:srgbClr val="00B050"/>
              </a:solidFill>
            </a:endParaRPr>
          </a:p>
          <a:p>
            <a:endParaRPr lang="en-US" altLang="zh-CN" sz="2000" dirty="0">
              <a:solidFill>
                <a:srgbClr val="00B050"/>
              </a:solidFill>
            </a:endParaRPr>
          </a:p>
          <a:p>
            <a:endParaRPr lang="zh-CN" altLang="en-US" sz="2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212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6BA5C0-86FB-D979-64CA-2E89C3C3A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4000" b="1" dirty="0">
                <a:solidFill>
                  <a:schemeClr val="accent4">
                    <a:lumMod val="75000"/>
                  </a:schemeClr>
                </a:solidFill>
              </a:rPr>
              <a:t>问题与场景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93FD6E-FF57-FF96-01BB-742A4FBCA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行业痛点</a:t>
            </a:r>
            <a:r>
              <a:rPr lang="zh-CN" altLang="zh-CN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</a:t>
            </a:r>
          </a:p>
          <a:p>
            <a:pPr lvl="0"/>
            <a:r>
              <a:rPr lang="zh-CN" altLang="zh-CN" sz="1300" dirty="0">
                <a:solidFill>
                  <a:schemeClr val="bg2">
                    <a:lumMod val="50000"/>
                  </a:schemeClr>
                </a:solidFill>
              </a:rPr>
              <a:t>单 Agent 实验室能跑通 Demo，一进真实企业系统就"水土不服"——</a:t>
            </a:r>
            <a:r>
              <a:rPr lang="zh-CN" altLang="zh-CN" sz="1300" b="1" dirty="0">
                <a:solidFill>
                  <a:schemeClr val="bg2">
                    <a:lumMod val="50000"/>
                  </a:schemeClr>
                </a:solidFill>
              </a:rPr>
              <a:t>缺权限隔离、缺操作审计、缺稳定接入、缺可观测</a:t>
            </a:r>
            <a:r>
              <a:rPr lang="zh-CN" altLang="zh-CN" sz="1300" dirty="0">
                <a:solidFill>
                  <a:schemeClr val="bg2">
                    <a:lumMod val="50000"/>
                  </a:schemeClr>
                </a:solidFill>
              </a:rPr>
              <a:t>。</a:t>
            </a:r>
          </a:p>
          <a:p>
            <a:pPr lvl="0"/>
            <a:r>
              <a:rPr lang="zh-CN" altLang="zh-CN" sz="1300" dirty="0">
                <a:solidFill>
                  <a:schemeClr val="bg2">
                    <a:lumMod val="50000"/>
                  </a:schemeClr>
                </a:solidFill>
              </a:rPr>
              <a:t>企业文档管理场景中，用户需要"查文档 / 建仓库 / 上传文件 / 全文检索 / 知识问答"，但操作必须</a:t>
            </a:r>
            <a:r>
              <a:rPr lang="zh-CN" altLang="zh-CN" sz="1300" b="1" dirty="0">
                <a:solidFill>
                  <a:schemeClr val="bg2">
                    <a:lumMod val="50000"/>
                  </a:schemeClr>
                </a:solidFill>
              </a:rPr>
              <a:t>严格按登录用户权限执行</a:t>
            </a:r>
            <a:r>
              <a:rPr lang="zh-CN" altLang="zh-CN" sz="1300" dirty="0">
                <a:solidFill>
                  <a:schemeClr val="bg2">
                    <a:lumMod val="50000"/>
                  </a:schemeClr>
                </a:solidFill>
              </a:rPr>
              <a:t>，写操作要可确认、可审计、可回溯。</a:t>
            </a:r>
            <a:endParaRPr lang="en-US" altLang="zh-CN" sz="1300" dirty="0">
              <a:solidFill>
                <a:schemeClr val="bg2">
                  <a:lumMod val="50000"/>
                </a:schemeClr>
              </a:solidFill>
            </a:endParaRPr>
          </a:p>
          <a:p>
            <a:pPr lvl="0"/>
            <a:endParaRPr lang="zh-CN" altLang="zh-CN" sz="13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zh-CN" altLang="zh-CN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具体场景（已在 MxsDoc 中运行）：</a:t>
            </a:r>
          </a:p>
          <a:p>
            <a:r>
              <a:rPr lang="zh-CN" altLang="zh-CN" sz="1300" dirty="0">
                <a:solidFill>
                  <a:schemeClr val="bg2">
                    <a:lumMod val="50000"/>
                  </a:schemeClr>
                </a:solidFill>
              </a:rPr>
              <a:t>用户输入自然语言 → Agent 自动识别意图 → 调用对应工具 → 返回结果</a:t>
            </a:r>
          </a:p>
          <a:p>
            <a:r>
              <a:rPr lang="zh-CN" altLang="zh-CN" sz="1300" dirty="0">
                <a:solidFill>
                  <a:schemeClr val="bg2">
                    <a:lumMod val="50000"/>
                  </a:schemeClr>
                </a:solidFill>
              </a:rPr>
              <a:t>例如：“列出我的仓库” → list_repos → 返回仓库列表</a:t>
            </a:r>
          </a:p>
          <a:p>
            <a:r>
              <a:rPr lang="zh-CN" altLang="zh-CN" sz="1300" dirty="0">
                <a:solidFill>
                  <a:schemeClr val="bg2">
                    <a:lumMod val="50000"/>
                  </a:schemeClr>
                </a:solidFill>
              </a:rPr>
              <a:t>例如：“在 DocSys 仓库中搜索 Kafka 相关文档并读取第一篇” → search_docs → get_doc → 总结内容（LLM 自主 3 步串联，实测通过）</a:t>
            </a:r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zh-CN" altLang="zh-CN" dirty="0"/>
              <a:t>真正的挑战不是让一个 Agent 更聪明，而是让一组 Agent 在真实企业系统里</a:t>
            </a:r>
            <a:r>
              <a:rPr lang="zh-CN" altLang="zh-CN" b="1" dirty="0"/>
              <a:t>可信、可控、可观测</a:t>
            </a:r>
            <a:r>
              <a:rPr lang="zh-CN" altLang="zh-CN" dirty="0"/>
              <a:t>地协同工作。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7539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EB7A4-83CE-62F9-C479-777FCCBBB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D5D051-BFA1-6A85-A699-D47ADEC1A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4000" b="1" dirty="0">
                <a:solidFill>
                  <a:schemeClr val="accent4">
                    <a:lumMod val="75000"/>
                  </a:schemeClr>
                </a:solidFill>
              </a:rPr>
              <a:t>核心价值主张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8B7415-AB9E-DD47-80F1-F520E710C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三个"真"：</a:t>
            </a:r>
          </a:p>
          <a:p>
            <a:pPr>
              <a:lnSpc>
                <a:spcPct val="100000"/>
              </a:lnSpc>
            </a:pPr>
            <a:r>
              <a:rPr lang="zh-CN" altLang="zh-CN" sz="1400" dirty="0">
                <a:solidFill>
                  <a:schemeClr val="bg2">
                    <a:lumMod val="50000"/>
                  </a:schemeClr>
                </a:solidFill>
              </a:rPr>
              <a:t>真实系统：构建在 MxsDoc 开源文档系统之上，非模拟场景</a:t>
            </a:r>
          </a:p>
          <a:p>
            <a:pPr>
              <a:lnSpc>
                <a:spcPct val="100000"/>
              </a:lnSpc>
            </a:pPr>
            <a:r>
              <a:rPr lang="zh-CN" altLang="zh-CN" sz="1400" dirty="0">
                <a:solidFill>
                  <a:schemeClr val="bg2">
                    <a:lumMod val="50000"/>
                  </a:schemeClr>
                </a:solidFill>
              </a:rPr>
              <a:t>真实权限：Agent 与 MxsDoc 共享登录会话，以当前用户真实权限执行</a:t>
            </a:r>
          </a:p>
          <a:p>
            <a:pPr>
              <a:lnSpc>
                <a:spcPct val="100000"/>
              </a:lnSpc>
            </a:pPr>
            <a:r>
              <a:rPr lang="zh-CN" altLang="zh-CN" sz="1400" dirty="0">
                <a:solidFill>
                  <a:schemeClr val="bg2">
                    <a:lumMod val="50000"/>
                  </a:schemeClr>
                </a:solidFill>
              </a:rPr>
              <a:t>真实审计：写操作全程留痕，SHA-256 脱敏，SSE 二次确认</a:t>
            </a:r>
          </a:p>
          <a:p>
            <a:pPr>
              <a:lnSpc>
                <a:spcPct val="100000"/>
              </a:lnSpc>
            </a:pPr>
            <a:r>
              <a:rPr lang="zh-CN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三个"可"：</a:t>
            </a:r>
          </a:p>
          <a:p>
            <a:pPr lvl="0">
              <a:lnSpc>
                <a:spcPct val="110000"/>
              </a:lnSpc>
            </a:pPr>
            <a:r>
              <a:rPr lang="zh-CN" altLang="zh-CN" sz="1400" dirty="0">
                <a:solidFill>
                  <a:schemeClr val="bg2">
                    <a:lumMod val="50000"/>
                  </a:schemeClr>
                </a:solidFill>
              </a:rPr>
              <a:t>可信：权限隔离 + 写操作审批 + 限流保护</a:t>
            </a:r>
          </a:p>
          <a:p>
            <a:pPr lvl="0">
              <a:lnSpc>
                <a:spcPct val="110000"/>
              </a:lnSpc>
            </a:pPr>
            <a:r>
              <a:rPr lang="zh-CN" altLang="zh-CN" sz="1400" dirty="0">
                <a:solidFill>
                  <a:schemeClr val="bg2">
                    <a:lumMod val="50000"/>
                  </a:schemeClr>
                </a:solidFill>
              </a:rPr>
              <a:t>可控：五态任务状态机 + 超时恢复 + 失败重试上限</a:t>
            </a:r>
          </a:p>
          <a:p>
            <a:pPr lvl="0">
              <a:lnSpc>
                <a:spcPct val="110000"/>
              </a:lnSpc>
            </a:pPr>
            <a:r>
              <a:rPr lang="zh-CN" altLang="zh-CN" sz="1400" dirty="0">
                <a:solidFill>
                  <a:schemeClr val="bg2">
                    <a:lumMod val="50000"/>
                  </a:schemeClr>
                </a:solidFill>
              </a:rPr>
              <a:t>可观测：Micrometer 指标 + 健康探针 + MDC 日志 + Step 审计</a:t>
            </a:r>
          </a:p>
          <a:p>
            <a:r>
              <a:rPr lang="zh-CN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复用价值：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zh-CN" sz="1400" dirty="0">
                <a:solidFill>
                  <a:schemeClr val="bg2">
                    <a:lumMod val="50000"/>
                  </a:schemeClr>
                </a:solidFill>
              </a:rPr>
              <a:t>任何企业系统均可按此模式（可插拔 Skill 执行器 + </a:t>
            </a:r>
            <a:r>
              <a:rPr lang="zh-CN" altLang="zh-CN" sz="1400" dirty="0">
                <a:solidFill>
                  <a:schemeClr val="bg2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SKILL.md</a:t>
            </a:r>
            <a:r>
              <a:rPr lang="zh-CN" altLang="zh-CN" sz="1400" dirty="0">
                <a:solidFill>
                  <a:schemeClr val="bg2">
                    <a:lumMod val="50000"/>
                  </a:schemeClr>
                </a:solidFill>
              </a:rPr>
              <a:t> 标准 + 审计/限流横切）接入多 Agent 能力。</a:t>
            </a:r>
          </a:p>
        </p:txBody>
      </p:sp>
    </p:spTree>
    <p:extLst>
      <p:ext uri="{BB962C8B-B14F-4D97-AF65-F5344CB8AC3E}">
        <p14:creationId xmlns:p14="http://schemas.microsoft.com/office/powerpoint/2010/main" val="2425062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7CAFD-CA36-F263-C316-59D550D04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>
            <a:extLst>
              <a:ext uri="{FF2B5EF4-FFF2-40B4-BE49-F238E27FC236}">
                <a16:creationId xmlns:a16="http://schemas.microsoft.com/office/drawing/2014/main" id="{9E2B3C82-8F87-E786-BD6B-80317D083320}"/>
              </a:ext>
            </a:extLst>
          </p:cNvPr>
          <p:cNvSpPr/>
          <p:nvPr/>
        </p:nvSpPr>
        <p:spPr>
          <a:xfrm>
            <a:off x="613691" y="1448311"/>
            <a:ext cx="10432752" cy="53329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765E80B-C2FA-DDD0-A305-DA712D8AA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6046"/>
          </a:xfrm>
        </p:spPr>
        <p:txBody>
          <a:bodyPr>
            <a:normAutofit/>
          </a:bodyPr>
          <a:lstStyle/>
          <a:p>
            <a:r>
              <a:rPr lang="zh-CN" altLang="zh-CN" b="1" dirty="0">
                <a:solidFill>
                  <a:schemeClr val="accent4">
                    <a:lumMod val="75000"/>
                  </a:schemeClr>
                </a:solidFill>
              </a:rPr>
              <a:t>AgentTeams 整体架构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E31877F-317F-CB77-3335-703FD4CB909F}"/>
              </a:ext>
            </a:extLst>
          </p:cNvPr>
          <p:cNvSpPr/>
          <p:nvPr/>
        </p:nvSpPr>
        <p:spPr>
          <a:xfrm>
            <a:off x="4191510" y="1625160"/>
            <a:ext cx="3050047" cy="378923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用户自然语言请求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B4D49A4-EA0B-0547-81FB-C8C55C6288FC}"/>
              </a:ext>
            </a:extLst>
          </p:cNvPr>
          <p:cNvSpPr/>
          <p:nvPr/>
        </p:nvSpPr>
        <p:spPr>
          <a:xfrm>
            <a:off x="838200" y="2317328"/>
            <a:ext cx="9863938" cy="48439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b="1" dirty="0">
                <a:solidFill>
                  <a:schemeClr val="bg1"/>
                </a:solidFill>
              </a:rPr>
              <a:t>编排 Agent (MainAgent) </a:t>
            </a:r>
            <a:endParaRPr lang="en-US" altLang="zh-CN" b="1" dirty="0">
              <a:solidFill>
                <a:schemeClr val="bg1"/>
              </a:solidFill>
            </a:endParaRPr>
          </a:p>
          <a:p>
            <a:pPr algn="ctr"/>
            <a:r>
              <a:rPr lang="zh-CN" altLang="zh-CN" sz="1050" dirty="0">
                <a:solidFill>
                  <a:schemeClr val="bg1"/>
                </a:solidFill>
              </a:rPr>
              <a:t>意图识别 → 任务拆解 → 分派 → 聚合 → 生命周期收口 </a:t>
            </a:r>
            <a:endParaRPr lang="zh-CN" altLang="en-US" sz="1050" dirty="0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2197084-A753-0157-1F05-9DC00BFAC6E0}"/>
              </a:ext>
            </a:extLst>
          </p:cNvPr>
          <p:cNvSpPr txBox="1"/>
          <p:nvPr/>
        </p:nvSpPr>
        <p:spPr>
          <a:xfrm>
            <a:off x="895989" y="1042783"/>
            <a:ext cx="92985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dirty="0">
                <a:solidFill>
                  <a:schemeClr val="bg2">
                    <a:lumMod val="25000"/>
                  </a:schemeClr>
                </a:solidFill>
              </a:rPr>
              <a:t>5 个职能 Agent 协同工作 · ToolUseLoop 推理引擎驱动 · 端到端任务闭环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329A2D7-CA88-614C-9C44-1241C5F78BB0}"/>
              </a:ext>
            </a:extLst>
          </p:cNvPr>
          <p:cNvSpPr/>
          <p:nvPr/>
        </p:nvSpPr>
        <p:spPr>
          <a:xfrm>
            <a:off x="833852" y="3170342"/>
            <a:ext cx="1406121" cy="5996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推荐</a:t>
            </a:r>
            <a:r>
              <a:rPr lang="zh-CN" altLang="zh-CN" b="1" dirty="0">
                <a:solidFill>
                  <a:schemeClr val="bg1"/>
                </a:solidFill>
              </a:rPr>
              <a:t> Agent </a:t>
            </a:r>
            <a:endParaRPr lang="en-US" altLang="zh-CN" b="1" dirty="0">
              <a:solidFill>
                <a:schemeClr val="bg1"/>
              </a:solidFill>
            </a:endParaRPr>
          </a:p>
          <a:p>
            <a:pPr algn="ctr"/>
            <a:r>
              <a:rPr lang="zh-CN" altLang="zh-CN" sz="1050" dirty="0">
                <a:solidFill>
                  <a:schemeClr val="bg1"/>
                </a:solidFill>
              </a:rPr>
              <a:t>协同过滤</a:t>
            </a:r>
            <a:endParaRPr lang="zh-CN" altLang="en-US" sz="1050" dirty="0">
              <a:solidFill>
                <a:schemeClr val="bg1"/>
              </a:solidFill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A8233EF-B938-924F-BF4E-083EF1306523}"/>
              </a:ext>
            </a:extLst>
          </p:cNvPr>
          <p:cNvSpPr/>
          <p:nvPr/>
        </p:nvSpPr>
        <p:spPr>
          <a:xfrm>
            <a:off x="2387449" y="3180078"/>
            <a:ext cx="1406121" cy="5996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进化</a:t>
            </a:r>
            <a:r>
              <a:rPr lang="zh-CN" altLang="zh-CN" b="1" dirty="0">
                <a:solidFill>
                  <a:schemeClr val="bg1"/>
                </a:solidFill>
              </a:rPr>
              <a:t> Agent </a:t>
            </a:r>
            <a:endParaRPr lang="en-US" altLang="zh-CN" b="1" dirty="0">
              <a:solidFill>
                <a:schemeClr val="bg1"/>
              </a:solidFill>
            </a:endParaRPr>
          </a:p>
          <a:p>
            <a:pPr algn="ctr"/>
            <a:r>
              <a:rPr lang="zh-CN" altLang="en-US" sz="1050" dirty="0">
                <a:solidFill>
                  <a:schemeClr val="bg1"/>
                </a:solidFill>
              </a:rPr>
              <a:t>技术结晶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A6B1A9E-4A57-8873-089A-7530447DEB3C}"/>
              </a:ext>
            </a:extLst>
          </p:cNvPr>
          <p:cNvSpPr/>
          <p:nvPr/>
        </p:nvSpPr>
        <p:spPr>
          <a:xfrm>
            <a:off x="4061014" y="3180078"/>
            <a:ext cx="1554261" cy="5996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反思</a:t>
            </a:r>
            <a:r>
              <a:rPr lang="zh-CN" altLang="zh-CN" b="1" dirty="0">
                <a:solidFill>
                  <a:schemeClr val="bg1"/>
                </a:solidFill>
              </a:rPr>
              <a:t>Agent </a:t>
            </a:r>
            <a:endParaRPr lang="en-US" altLang="zh-CN" b="1" dirty="0">
              <a:solidFill>
                <a:schemeClr val="bg1"/>
              </a:solidFill>
            </a:endParaRPr>
          </a:p>
          <a:p>
            <a:pPr algn="ctr"/>
            <a:r>
              <a:rPr lang="zh-CN" altLang="en-US" sz="1050" dirty="0">
                <a:solidFill>
                  <a:schemeClr val="bg1"/>
                </a:solidFill>
              </a:rPr>
              <a:t>失败重划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0C38797-C17A-0FA5-8B00-33235A13631B}"/>
              </a:ext>
            </a:extLst>
          </p:cNvPr>
          <p:cNvSpPr/>
          <p:nvPr/>
        </p:nvSpPr>
        <p:spPr>
          <a:xfrm>
            <a:off x="6041963" y="3180078"/>
            <a:ext cx="4660175" cy="5996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执行</a:t>
            </a:r>
            <a:r>
              <a:rPr lang="zh-CN" altLang="zh-CN" b="1" dirty="0">
                <a:solidFill>
                  <a:schemeClr val="bg1"/>
                </a:solidFill>
              </a:rPr>
              <a:t> Agent</a:t>
            </a:r>
            <a:r>
              <a:rPr lang="zh-CN" altLang="en-US" b="1" dirty="0">
                <a:solidFill>
                  <a:schemeClr val="bg1"/>
                </a:solidFill>
              </a:rPr>
              <a:t>（</a:t>
            </a:r>
            <a:r>
              <a:rPr lang="en-US" altLang="zh-CN" b="1" dirty="0" err="1">
                <a:solidFill>
                  <a:schemeClr val="bg1"/>
                </a:solidFill>
              </a:rPr>
              <a:t>SubAgent</a:t>
            </a:r>
            <a:r>
              <a:rPr lang="zh-CN" altLang="en-US" b="1" dirty="0">
                <a:solidFill>
                  <a:schemeClr val="bg1"/>
                </a:solidFill>
              </a:rPr>
              <a:t>池）</a:t>
            </a:r>
            <a:r>
              <a:rPr lang="zh-CN" altLang="zh-CN" b="1" dirty="0">
                <a:solidFill>
                  <a:schemeClr val="bg1"/>
                </a:solidFill>
              </a:rPr>
              <a:t> </a:t>
            </a:r>
            <a:endParaRPr lang="en-US" altLang="zh-CN" b="1" dirty="0">
              <a:solidFill>
                <a:schemeClr val="bg1"/>
              </a:solidFill>
            </a:endParaRPr>
          </a:p>
          <a:p>
            <a:pPr algn="ctr"/>
            <a:r>
              <a:rPr lang="zh-CN" altLang="en-US" sz="1050" dirty="0">
                <a:solidFill>
                  <a:schemeClr val="bg1"/>
                </a:solidFill>
              </a:rPr>
              <a:t>工具调用执行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4E913C5-762C-DEC3-63BF-327C116AD13E}"/>
              </a:ext>
            </a:extLst>
          </p:cNvPr>
          <p:cNvSpPr/>
          <p:nvPr/>
        </p:nvSpPr>
        <p:spPr>
          <a:xfrm>
            <a:off x="4373777" y="4085149"/>
            <a:ext cx="6332656" cy="599672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b="1" dirty="0">
                <a:solidFill>
                  <a:schemeClr val="bg1"/>
                </a:solidFill>
              </a:rPr>
              <a:t>ToolUseLoop 推理引擎 (REPL) </a:t>
            </a:r>
            <a:endParaRPr lang="en-US" altLang="zh-CN" b="1" dirty="0">
              <a:solidFill>
                <a:schemeClr val="bg1"/>
              </a:solidFill>
            </a:endParaRPr>
          </a:p>
          <a:p>
            <a:pPr algn="ctr"/>
            <a:r>
              <a:rPr lang="zh-CN" altLang="zh-CN" sz="1100" dirty="0">
                <a:solidFill>
                  <a:schemeClr val="bg1"/>
                </a:solidFill>
              </a:rPr>
              <a:t> LLM自主决策→调工具→观察→推理</a:t>
            </a:r>
            <a:r>
              <a:rPr lang="zh-CN" altLang="zh-CN" sz="1100" dirty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zh-CN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C307FAAE-FE53-F2C0-B154-495AD22475BB}"/>
              </a:ext>
            </a:extLst>
          </p:cNvPr>
          <p:cNvSpPr/>
          <p:nvPr/>
        </p:nvSpPr>
        <p:spPr>
          <a:xfrm>
            <a:off x="4496735" y="5042613"/>
            <a:ext cx="1630354" cy="599672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内部技能</a:t>
            </a:r>
            <a:r>
              <a:rPr lang="zh-CN" altLang="zh-CN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endParaRPr lang="en-US" altLang="zh-CN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r>
              <a:rPr lang="en-US" altLang="zh-CN" sz="1100" dirty="0">
                <a:solidFill>
                  <a:schemeClr val="bg1"/>
                </a:solidFill>
              </a:rPr>
              <a:t>Java</a:t>
            </a:r>
            <a:r>
              <a:rPr lang="zh-CN" altLang="en-US" sz="1100" dirty="0">
                <a:solidFill>
                  <a:schemeClr val="bg1"/>
                </a:solidFill>
              </a:rPr>
              <a:t>直接调用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FC5381F-F72A-CDE3-B3CD-CD66663B021E}"/>
              </a:ext>
            </a:extLst>
          </p:cNvPr>
          <p:cNvSpPr/>
          <p:nvPr/>
        </p:nvSpPr>
        <p:spPr>
          <a:xfrm>
            <a:off x="6724927" y="5042355"/>
            <a:ext cx="1630354" cy="599672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外部技能</a:t>
            </a:r>
            <a:r>
              <a:rPr lang="zh-CN" altLang="zh-CN" b="1" dirty="0">
                <a:solidFill>
                  <a:schemeClr val="bg1"/>
                </a:solidFill>
              </a:rPr>
              <a:t> </a:t>
            </a:r>
            <a:endParaRPr lang="en-US" altLang="zh-CN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1100" dirty="0">
                <a:solidFill>
                  <a:schemeClr val="bg1"/>
                </a:solidFill>
              </a:rPr>
              <a:t>Python / CLI</a:t>
            </a:r>
            <a:endParaRPr lang="zh-CN" altLang="en-US" sz="1100" dirty="0">
              <a:solidFill>
                <a:schemeClr val="bg1"/>
              </a:solidFill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F245145-944A-A5E9-8AA4-38BFF77BD0F2}"/>
              </a:ext>
            </a:extLst>
          </p:cNvPr>
          <p:cNvSpPr/>
          <p:nvPr/>
        </p:nvSpPr>
        <p:spPr>
          <a:xfrm>
            <a:off x="8778741" y="5046545"/>
            <a:ext cx="1630354" cy="599672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LLM</a:t>
            </a:r>
            <a:r>
              <a:rPr lang="zh-CN" altLang="en-US" b="1" dirty="0">
                <a:solidFill>
                  <a:schemeClr val="bg1"/>
                </a:solidFill>
              </a:rPr>
              <a:t>对话</a:t>
            </a:r>
            <a:r>
              <a:rPr lang="zh-CN" altLang="zh-CN" b="1" dirty="0">
                <a:solidFill>
                  <a:schemeClr val="bg1"/>
                </a:solidFill>
              </a:rPr>
              <a:t> </a:t>
            </a:r>
            <a:endParaRPr lang="en-US" altLang="zh-CN" b="1" dirty="0">
              <a:solidFill>
                <a:schemeClr val="bg1"/>
              </a:solidFill>
            </a:endParaRPr>
          </a:p>
          <a:p>
            <a:pPr algn="ctr"/>
            <a:r>
              <a:rPr lang="zh-CN" altLang="en-US" sz="1100" dirty="0">
                <a:solidFill>
                  <a:schemeClr val="bg1"/>
                </a:solidFill>
              </a:rPr>
              <a:t>多模型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8216F03F-CA95-4458-56BF-23620A3BD203}"/>
              </a:ext>
            </a:extLst>
          </p:cNvPr>
          <p:cNvSpPr/>
          <p:nvPr/>
        </p:nvSpPr>
        <p:spPr>
          <a:xfrm>
            <a:off x="833852" y="5902684"/>
            <a:ext cx="9807555" cy="722772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b="1" dirty="0">
                <a:solidFill>
                  <a:schemeClr val="bg1"/>
                </a:solidFill>
              </a:rPr>
              <a:t>MxsDoc 企业文档系统底座</a:t>
            </a:r>
            <a:endParaRPr lang="en-US" altLang="zh-CN" b="1" dirty="0">
              <a:solidFill>
                <a:schemeClr val="bg1"/>
              </a:solidFill>
            </a:endParaRPr>
          </a:p>
          <a:p>
            <a:pPr algn="ctr"/>
            <a:r>
              <a:rPr lang="zh-CN" altLang="zh-CN" sz="1100" dirty="0">
                <a:solidFill>
                  <a:schemeClr val="bg1"/>
                </a:solidFill>
              </a:rPr>
              <a:t>用户·仓库·文档·搜索·RAG·备份 40+ 接口 </a:t>
            </a:r>
            <a:r>
              <a:rPr lang="en-US" altLang="zh-CN" sz="1100" dirty="0">
                <a:solidFill>
                  <a:schemeClr val="accent2"/>
                </a:solidFill>
              </a:rPr>
              <a:t> </a:t>
            </a:r>
            <a:r>
              <a:rPr lang="zh-CN" altLang="zh-CN" sz="1100" dirty="0">
                <a:solidFill>
                  <a:schemeClr val="accent2"/>
                </a:solidFill>
              </a:rPr>
              <a:t>│ </a:t>
            </a:r>
            <a:r>
              <a:rPr lang="zh-CN" altLang="zh-CN" sz="1100" dirty="0">
                <a:solidFill>
                  <a:schemeClr val="bg1"/>
                </a:solidFill>
              </a:rPr>
              <a:t>共享会话 · 真实权限 · 写操作审计</a:t>
            </a:r>
            <a:endParaRPr lang="zh-CN" altLang="en-US" sz="1100" dirty="0">
              <a:solidFill>
                <a:schemeClr val="bg1"/>
              </a:solidFill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675B12D2-1A13-1820-31AC-DCDE0A574646}"/>
              </a:ext>
            </a:extLst>
          </p:cNvPr>
          <p:cNvCxnSpPr>
            <a:cxnSpLocks/>
          </p:cNvCxnSpPr>
          <p:nvPr/>
        </p:nvCxnSpPr>
        <p:spPr>
          <a:xfrm>
            <a:off x="5781583" y="2004083"/>
            <a:ext cx="0" cy="313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C9A5D184-832B-44AD-E722-C0DB7E6EE00D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 rot="5400000">
            <a:off x="3469231" y="869404"/>
            <a:ext cx="368620" cy="423325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D0211474-61A9-4A9C-B17C-22F9530DF06A}"/>
              </a:ext>
            </a:extLst>
          </p:cNvPr>
          <p:cNvCxnSpPr>
            <a:cxnSpLocks/>
            <a:stCxn id="10" idx="2"/>
            <a:endCxn id="22" idx="0"/>
          </p:cNvCxnSpPr>
          <p:nvPr/>
        </p:nvCxnSpPr>
        <p:spPr>
          <a:xfrm rot="16200000" flipH="1">
            <a:off x="6881932" y="1689959"/>
            <a:ext cx="378356" cy="260188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2E93B947-5EFB-9C28-B51A-08B66058585E}"/>
              </a:ext>
            </a:extLst>
          </p:cNvPr>
          <p:cNvCxnSpPr>
            <a:cxnSpLocks/>
            <a:stCxn id="10" idx="2"/>
            <a:endCxn id="18" idx="0"/>
          </p:cNvCxnSpPr>
          <p:nvPr/>
        </p:nvCxnSpPr>
        <p:spPr>
          <a:xfrm rot="5400000">
            <a:off x="4241162" y="1651071"/>
            <a:ext cx="378356" cy="26796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AB7CDEE0-B1C4-DFD8-A471-A9C2BF102A0A}"/>
              </a:ext>
            </a:extLst>
          </p:cNvPr>
          <p:cNvCxnSpPr>
            <a:cxnSpLocks/>
            <a:stCxn id="10" idx="2"/>
            <a:endCxn id="20" idx="0"/>
          </p:cNvCxnSpPr>
          <p:nvPr/>
        </p:nvCxnSpPr>
        <p:spPr>
          <a:xfrm rot="5400000">
            <a:off x="5114979" y="2524888"/>
            <a:ext cx="378356" cy="93202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921B047C-9D3E-D502-8D92-CC02C64DBDE3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rot="5400000">
            <a:off x="7803379" y="3516476"/>
            <a:ext cx="305399" cy="83194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0151ED38-E618-2556-DDD1-AAB978F776E7}"/>
              </a:ext>
            </a:extLst>
          </p:cNvPr>
          <p:cNvCxnSpPr>
            <a:stCxn id="24" idx="2"/>
            <a:endCxn id="26" idx="0"/>
          </p:cNvCxnSpPr>
          <p:nvPr/>
        </p:nvCxnSpPr>
        <p:spPr>
          <a:xfrm rot="5400000">
            <a:off x="6247113" y="3749621"/>
            <a:ext cx="357792" cy="222819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连接符: 肘形 68">
            <a:extLst>
              <a:ext uri="{FF2B5EF4-FFF2-40B4-BE49-F238E27FC236}">
                <a16:creationId xmlns:a16="http://schemas.microsoft.com/office/drawing/2014/main" id="{4F6DBD17-15CA-32DE-238D-C933E588299D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 rot="5400000">
            <a:off x="7361338" y="4863588"/>
            <a:ext cx="357534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连接符: 肘形 70">
            <a:extLst>
              <a:ext uri="{FF2B5EF4-FFF2-40B4-BE49-F238E27FC236}">
                <a16:creationId xmlns:a16="http://schemas.microsoft.com/office/drawing/2014/main" id="{AF2A0144-368F-8DA1-16AA-9449D06368F4}"/>
              </a:ext>
            </a:extLst>
          </p:cNvPr>
          <p:cNvCxnSpPr>
            <a:stCxn id="24" idx="2"/>
            <a:endCxn id="30" idx="0"/>
          </p:cNvCxnSpPr>
          <p:nvPr/>
        </p:nvCxnSpPr>
        <p:spPr>
          <a:xfrm rot="16200000" flipH="1">
            <a:off x="8386149" y="3838776"/>
            <a:ext cx="361724" cy="20538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40DFE990-BDFF-5555-4EA4-F99A5AE5BE14}"/>
              </a:ext>
            </a:extLst>
          </p:cNvPr>
          <p:cNvCxnSpPr>
            <a:stCxn id="26" idx="2"/>
          </p:cNvCxnSpPr>
          <p:nvPr/>
        </p:nvCxnSpPr>
        <p:spPr>
          <a:xfrm>
            <a:off x="5311912" y="5642285"/>
            <a:ext cx="0" cy="260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ADAE470D-E769-CB04-F4D4-3AB0BB800576}"/>
              </a:ext>
            </a:extLst>
          </p:cNvPr>
          <p:cNvCxnSpPr>
            <a:stCxn id="28" idx="2"/>
          </p:cNvCxnSpPr>
          <p:nvPr/>
        </p:nvCxnSpPr>
        <p:spPr>
          <a:xfrm flipH="1">
            <a:off x="7535810" y="5642027"/>
            <a:ext cx="4294" cy="260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4C66F402-DEE8-2ABB-1D74-8A1EB3FBA3B4}"/>
              </a:ext>
            </a:extLst>
          </p:cNvPr>
          <p:cNvCxnSpPr>
            <a:stCxn id="30" idx="2"/>
          </p:cNvCxnSpPr>
          <p:nvPr/>
        </p:nvCxnSpPr>
        <p:spPr>
          <a:xfrm>
            <a:off x="9593918" y="5646217"/>
            <a:ext cx="1" cy="256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555DCF55-F7FA-2E4E-1620-B45E83C3B120}"/>
              </a:ext>
            </a:extLst>
          </p:cNvPr>
          <p:cNvSpPr txBox="1"/>
          <p:nvPr/>
        </p:nvSpPr>
        <p:spPr>
          <a:xfrm>
            <a:off x="729880" y="4162072"/>
            <a:ext cx="339616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100" b="1" dirty="0">
                <a:solidFill>
                  <a:schemeClr val="bg2">
                    <a:lumMod val="50000"/>
                  </a:schemeClr>
                </a:solidFill>
              </a:rPr>
              <a:t>横切能力：</a:t>
            </a:r>
            <a:endParaRPr lang="en-US" altLang="zh-CN" sz="11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zh-CN" altLang="zh-CN" sz="1100" b="1" dirty="0">
                <a:solidFill>
                  <a:schemeClr val="accent6">
                    <a:lumMod val="75000"/>
                  </a:schemeClr>
                </a:solidFill>
              </a:rPr>
              <a:t>·</a:t>
            </a:r>
            <a:r>
              <a:rPr lang="en-US" altLang="zh-CN" sz="11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zh-CN" altLang="zh-CN" sz="1100" dirty="0">
                <a:solidFill>
                  <a:schemeClr val="bg2">
                    <a:lumMod val="50000"/>
                  </a:schemeClr>
                </a:solidFill>
              </a:rPr>
              <a:t>安全审批(SSE二次确认) </a:t>
            </a:r>
            <a:endParaRPr lang="en-US" altLang="zh-CN" sz="11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zh-CN" altLang="zh-CN" sz="1100" b="1" dirty="0">
                <a:solidFill>
                  <a:schemeClr val="accent6">
                    <a:lumMod val="75000"/>
                  </a:schemeClr>
                </a:solidFill>
              </a:rPr>
              <a:t>·</a:t>
            </a:r>
            <a:r>
              <a:rPr lang="zh-CN" altLang="zh-CN" sz="1100" dirty="0">
                <a:solidFill>
                  <a:schemeClr val="bg2">
                    <a:lumMod val="50000"/>
                  </a:schemeClr>
                </a:solidFill>
              </a:rPr>
              <a:t> 审计脱敏(SHA-256) </a:t>
            </a:r>
            <a:endParaRPr lang="en-US" altLang="zh-CN" sz="11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zh-CN" altLang="zh-CN" sz="1100" b="1" dirty="0">
                <a:solidFill>
                  <a:schemeClr val="accent6">
                    <a:lumMod val="75000"/>
                  </a:schemeClr>
                </a:solidFill>
              </a:rPr>
              <a:t>·</a:t>
            </a:r>
            <a:r>
              <a:rPr lang="en-US" altLang="zh-CN" sz="11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zh-CN" altLang="zh-CN" sz="1100" dirty="0">
                <a:solidFill>
                  <a:schemeClr val="bg2">
                    <a:lumMod val="50000"/>
                  </a:schemeClr>
                </a:solidFill>
              </a:rPr>
              <a:t>限流(Bucket4j) </a:t>
            </a:r>
            <a:endParaRPr lang="en-US" altLang="zh-CN" sz="11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zh-CN" altLang="zh-CN" sz="1100" b="1" dirty="0">
                <a:solidFill>
                  <a:schemeClr val="accent6">
                    <a:lumMod val="75000"/>
                  </a:schemeClr>
                </a:solidFill>
              </a:rPr>
              <a:t>·</a:t>
            </a:r>
            <a:r>
              <a:rPr lang="zh-CN" altLang="zh-CN" sz="1100" dirty="0">
                <a:solidFill>
                  <a:schemeClr val="bg2">
                    <a:lumMod val="50000"/>
                  </a:schemeClr>
                </a:solidFill>
              </a:rPr>
              <a:t> 可观测(Micrometer/健康探针/MDC/Step审计) </a:t>
            </a:r>
            <a:endParaRPr lang="en-US" altLang="zh-CN" sz="11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zh-CN" altLang="zh-CN" sz="1100" b="1" dirty="0">
                <a:solidFill>
                  <a:schemeClr val="accent6">
                    <a:lumMod val="75000"/>
                  </a:schemeClr>
                </a:solidFill>
              </a:rPr>
              <a:t>·</a:t>
            </a:r>
            <a:r>
              <a:rPr lang="zh-CN" altLang="zh-CN" sz="1100" dirty="0">
                <a:solidFill>
                  <a:schemeClr val="bg2">
                    <a:lumMod val="50000"/>
                  </a:schemeClr>
                </a:solidFill>
              </a:rPr>
              <a:t> 任务持久化(五态状态机)</a:t>
            </a:r>
          </a:p>
        </p:txBody>
      </p:sp>
    </p:spTree>
    <p:extLst>
      <p:ext uri="{BB962C8B-B14F-4D97-AF65-F5344CB8AC3E}">
        <p14:creationId xmlns:p14="http://schemas.microsoft.com/office/powerpoint/2010/main" val="1093370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90E45-C1C5-AD99-C2F5-541B7B235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C9631F-5E92-D739-8B86-2E740FD32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b="1" dirty="0">
                <a:solidFill>
                  <a:schemeClr val="accent4">
                    <a:lumMod val="75000"/>
                  </a:schemeClr>
                </a:solidFill>
              </a:rPr>
              <a:t>5 个 Agent 职能详表</a:t>
            </a:r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B30AB461-BE71-426B-1DAC-4816D8EEB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414473"/>
              </p:ext>
            </p:extLst>
          </p:nvPr>
        </p:nvGraphicFramePr>
        <p:xfrm>
          <a:off x="838199" y="1741657"/>
          <a:ext cx="10183695" cy="28337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51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98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50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546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Agent 角色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组件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核心职责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运转状态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66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编排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MainAgent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意图识别、任务拆解、分派、聚合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每请求真实运行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66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执行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SubAgent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映射到25个工具或LLM对话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每子任务真实运行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66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反思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ReflectionEngine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失败诊断、重规划、异常自愈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开关治理（默认关）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66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进化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SkillCrystallizer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记忆经验、结晶可复用Skill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按阈值触发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66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推荐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CollaborativeFiltering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 err="1"/>
                        <a:t>按用户相似度协同推荐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 err="1"/>
                        <a:t>依赖数据积累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9F25C4A4-E941-74F7-7D4D-43BCCC842FFF}"/>
              </a:ext>
            </a:extLst>
          </p:cNvPr>
          <p:cNvSpPr txBox="1"/>
          <p:nvPr/>
        </p:nvSpPr>
        <p:spPr>
          <a:xfrm>
            <a:off x="759444" y="4575450"/>
            <a:ext cx="6097022" cy="1269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zh-CN" altLang="zh-CN" sz="1275" b="1" i="0" dirty="0">
                <a:effectLst/>
                <a:latin typeface="Lato" panose="020F0502020204030203" pitchFamily="34" charset="0"/>
              </a:rPr>
              <a:t>AgentTeams 协同机制</a:t>
            </a:r>
            <a:r>
              <a:rPr lang="zh-CN" altLang="zh-CN" sz="1275" b="0" i="0" dirty="0">
                <a:effectLst/>
                <a:latin typeface="Lato" panose="020F0502020204030203" pitchFamily="34" charset="0"/>
              </a:rPr>
              <a:t>：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CN" altLang="zh-CN" sz="1275" b="0" i="0" dirty="0">
                <a:solidFill>
                  <a:schemeClr val="bg2">
                    <a:lumMod val="50000"/>
                  </a:schemeClr>
                </a:solidFill>
                <a:effectLst/>
                <a:latin typeface="Lato" panose="020F0502020204030203" pitchFamily="34" charset="0"/>
              </a:rPr>
              <a:t>编排 Agent 是协同中枢，统一收口所有 Agent 的生命周期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CN" altLang="zh-CN" sz="1275" b="0" i="0" dirty="0">
                <a:solidFill>
                  <a:schemeClr val="bg2">
                    <a:lumMod val="50000"/>
                  </a:schemeClr>
                </a:solidFill>
                <a:effectLst/>
                <a:latin typeface="Lato" panose="020F0502020204030203" pitchFamily="34" charset="0"/>
              </a:rPr>
              <a:t>推荐 Agent 在拆解前注入协同信号（相似用户的成功经验）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CN" altLang="zh-CN" sz="1275" b="0" i="0" dirty="0">
                <a:solidFill>
                  <a:schemeClr val="bg2">
                    <a:lumMod val="50000"/>
                  </a:schemeClr>
                </a:solidFill>
                <a:effectLst/>
                <a:latin typeface="Lato" panose="020F0502020204030203" pitchFamily="34" charset="0"/>
              </a:rPr>
              <a:t>进化 Agent 异步监听任务结果，达标触发结晶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CN" altLang="zh-CN" sz="1275" b="0" i="0" dirty="0">
                <a:solidFill>
                  <a:schemeClr val="bg2">
                    <a:lumMod val="50000"/>
                  </a:schemeClr>
                </a:solidFill>
                <a:effectLst/>
                <a:latin typeface="Lato" panose="020F0502020204030203" pitchFamily="34" charset="0"/>
              </a:rPr>
              <a:t>反思 Agent 在失败路径上接管，与编排 Agent 协作完成自愈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CN" altLang="zh-CN" sz="1275" b="0" i="0" dirty="0">
                <a:solidFill>
                  <a:schemeClr val="bg2">
                    <a:lumMod val="50000"/>
                  </a:schemeClr>
                </a:solidFill>
                <a:effectLst/>
                <a:latin typeface="Lato" panose="020F0502020204030203" pitchFamily="34" charset="0"/>
              </a:rPr>
              <a:t>执行 Agent 池化管理，按任务类型复用实例</a:t>
            </a:r>
          </a:p>
        </p:txBody>
      </p:sp>
    </p:spTree>
    <p:extLst>
      <p:ext uri="{BB962C8B-B14F-4D97-AF65-F5344CB8AC3E}">
        <p14:creationId xmlns:p14="http://schemas.microsoft.com/office/powerpoint/2010/main" val="2345595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91C6C-6BB8-0CEC-D82E-846B14177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E69E56-D496-D1C8-86CF-C8D1E85D2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b="1" dirty="0">
                <a:solidFill>
                  <a:schemeClr val="accent4">
                    <a:lumMod val="75000"/>
                  </a:schemeClr>
                </a:solidFill>
              </a:rPr>
              <a:t>任务拆解与端到端闭环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7C8606-AAD6-7F4A-F0C2-FD2BA8137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000" b="1" dirty="0"/>
              <a:t>双路径并存，灰度切换</a:t>
            </a:r>
            <a:r>
              <a:rPr lang="zh-CN" altLang="zh-CN" sz="2000" dirty="0"/>
              <a:t>：</a:t>
            </a:r>
          </a:p>
          <a:p>
            <a:pPr lvl="1"/>
            <a:r>
              <a:rPr lang="zh-CN" altLang="zh-CN" sz="1600" b="1" dirty="0">
                <a:solidFill>
                  <a:schemeClr val="bg2">
                    <a:lumMod val="50000"/>
                  </a:schemeClr>
                </a:solidFill>
              </a:rPr>
              <a:t>路径一：ToolUseLoop 推理引擎（主路径，默认开启）</a:t>
            </a:r>
            <a:endParaRPr lang="zh-CN" altLang="zh-CN" sz="1600" dirty="0">
              <a:solidFill>
                <a:schemeClr val="bg2">
                  <a:lumMod val="50000"/>
                </a:schemeClr>
              </a:solidFill>
            </a:endParaRPr>
          </a:p>
          <a:p>
            <a:pPr lvl="2"/>
            <a:r>
              <a:rPr lang="zh-CN" altLang="zh-CN" sz="1100" dirty="0">
                <a:solidFill>
                  <a:schemeClr val="bg2">
                    <a:lumMod val="50000"/>
                  </a:schemeClr>
                </a:solidFill>
              </a:rPr>
              <a:t>LLM 作为推理引擎，收到 25 个工具的 JSON Schema 定义</a:t>
            </a:r>
          </a:p>
          <a:p>
            <a:pPr lvl="2"/>
            <a:r>
              <a:rPr lang="zh-CN" altLang="zh-CN" sz="1100" dirty="0">
                <a:solidFill>
                  <a:schemeClr val="bg2">
                    <a:lumMod val="50000"/>
                  </a:schemeClr>
                </a:solidFill>
              </a:rPr>
              <a:t>自主决定：调哪个工具 → 观察结果 → 再推理 → 最多 10 轮（防死循环）</a:t>
            </a:r>
          </a:p>
          <a:p>
            <a:pPr lvl="2"/>
            <a:r>
              <a:rPr lang="zh-CN" altLang="zh-CN" sz="1100" dirty="0">
                <a:solidFill>
                  <a:schemeClr val="bg2">
                    <a:lumMod val="50000"/>
                  </a:schemeClr>
                </a:solidFill>
              </a:rPr>
              <a:t>支持流式输出：reasoning（推理过程）→ tool_call（工具调用）→ tool_result（工具结果）→ text（最终回答）逐步推送到前端</a:t>
            </a:r>
          </a:p>
          <a:p>
            <a:pPr lvl="2"/>
            <a:r>
              <a:rPr lang="zh-CN" altLang="zh-CN" sz="1100" dirty="0">
                <a:solidFill>
                  <a:schemeClr val="bg2">
                    <a:lumMod val="50000"/>
                  </a:schemeClr>
                </a:solidFill>
              </a:rPr>
              <a:t>实测验证：list_repos → search_docs → get_doc → 总结 4 轮自主串联，结果正确</a:t>
            </a:r>
          </a:p>
          <a:p>
            <a:pPr lvl="1"/>
            <a:r>
              <a:rPr lang="zh-CN" altLang="zh-CN" sz="1600" b="1" dirty="0">
                <a:solidFill>
                  <a:schemeClr val="bg2">
                    <a:lumMod val="50000"/>
                  </a:schemeClr>
                </a:solidFill>
              </a:rPr>
              <a:t>路径二：规则路由（旧路径，保留兜底）</a:t>
            </a:r>
          </a:p>
          <a:p>
            <a:pPr lvl="2"/>
            <a:r>
              <a:rPr lang="zh-CN" altLang="zh-CN" sz="1100" dirty="0">
                <a:solidFill>
                  <a:schemeClr val="bg2">
                    <a:lumMod val="50000"/>
                  </a:schemeClr>
                </a:solidFill>
              </a:rPr>
              <a:t>复合命令 → 规则直映射</a:t>
            </a:r>
          </a:p>
          <a:p>
            <a:pPr lvl="2"/>
            <a:r>
              <a:rPr lang="zh-CN" altLang="zh-CN" sz="1100" dirty="0">
                <a:solidFill>
                  <a:schemeClr val="bg2">
                    <a:lumMod val="50000"/>
                  </a:schemeClr>
                </a:solidFill>
              </a:rPr>
              <a:t>自然语言 → LLM 意图解析（confidence≥0.6）→ Skill trigger 打分匹配 → 中文正则兜底 → chat 兜底</a:t>
            </a:r>
            <a:endParaRPr lang="en-US" altLang="zh-CN" sz="1100" dirty="0">
              <a:solidFill>
                <a:schemeClr val="bg2">
                  <a:lumMod val="50000"/>
                </a:schemeClr>
              </a:solidFill>
            </a:endParaRPr>
          </a:p>
          <a:p>
            <a:endParaRPr lang="zh-CN" altLang="zh-CN" sz="19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zh-CN" altLang="zh-CN" sz="2000" b="1" dirty="0"/>
              <a:t>上下文传递机制</a:t>
            </a:r>
          </a:p>
          <a:p>
            <a:pPr lvl="1"/>
            <a:r>
              <a:rPr lang="zh-CN" altLang="zh-CN" sz="1500" dirty="0">
                <a:solidFill>
                  <a:schemeClr val="bg2">
                    <a:lumMod val="50000"/>
                  </a:schemeClr>
                </a:solidFill>
              </a:rPr>
              <a:t>AgentContext：会话上下文（sessionId / userId / requestId）</a:t>
            </a:r>
          </a:p>
          <a:p>
            <a:pPr lvl="1"/>
            <a:r>
              <a:rPr lang="zh-CN" altLang="zh-CN" sz="1500" dirty="0">
                <a:solidFill>
                  <a:schemeClr val="bg2">
                    <a:lumMod val="50000"/>
                  </a:schemeClr>
                </a:solidFill>
              </a:rPr>
              <a:t>DocSysClient.copyWithSession()：per-session 客户端，携带 JSESSIONID，保证多用户隔离</a:t>
            </a:r>
          </a:p>
          <a:p>
            <a:pPr lvl="1"/>
            <a:r>
              <a:rPr lang="zh-CN" altLang="zh-CN" sz="1500" dirty="0">
                <a:solidFill>
                  <a:schemeClr val="bg2">
                    <a:lumMod val="50000"/>
                  </a:schemeClr>
                </a:solidFill>
              </a:rPr>
              <a:t>MDC 结构化日志：requestId / sessionId / userId 串联全链路</a:t>
            </a:r>
          </a:p>
          <a:p>
            <a:pPr lvl="1"/>
            <a:r>
              <a:rPr lang="zh-CN" altLang="zh-CN" sz="1500" dirty="0">
                <a:solidFill>
                  <a:schemeClr val="bg2">
                    <a:lumMod val="50000"/>
                  </a:schemeClr>
                </a:solidFill>
              </a:rPr>
              <a:t>会话历史注入：ToolUseLoop 加载最近 20 条对话历史，实现上下文延续</a:t>
            </a:r>
          </a:p>
          <a:p>
            <a:pPr marL="0" indent="0">
              <a:lnSpc>
                <a:spcPct val="100000"/>
              </a:lnSpc>
              <a:buNone/>
            </a:pPr>
            <a:endParaRPr lang="zh-CN" altLang="zh-CN" sz="1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3404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EC71A-6CA0-A4F5-4BB9-A7ECABDC7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A83B40-E752-F8F5-5C1F-708C12C72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b="1" dirty="0">
                <a:solidFill>
                  <a:schemeClr val="accent4">
                    <a:lumMod val="75000"/>
                  </a:schemeClr>
                </a:solidFill>
              </a:rPr>
              <a:t>Skill 工程体系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134542-6F4A-893F-7F56-71C5C15E0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zh-CN" altLang="zh-CN" b="1" dirty="0"/>
              <a:t>可插拔架构</a:t>
            </a:r>
            <a:r>
              <a:rPr lang="zh-CN" altLang="zh-CN" dirty="0"/>
              <a:t>：</a:t>
            </a:r>
          </a:p>
          <a:p>
            <a:pPr lvl="1"/>
            <a:r>
              <a:rPr lang="zh-CN" altLang="zh-CN" dirty="0"/>
              <a:t>SkillExecutor 接口</a:t>
            </a:r>
          </a:p>
          <a:p>
            <a:pPr lvl="2"/>
            <a:r>
              <a:rPr lang="zh-CN" altLang="zh-CN" dirty="0"/>
              <a:t>    ├ @Order(100) DocSysSkillExecutor    —— 内置 Skill，Java handler → DocSysClient</a:t>
            </a:r>
          </a:p>
          <a:p>
            <a:pPr lvl="2"/>
            <a:r>
              <a:rPr lang="zh-CN" altLang="zh-CN" dirty="0"/>
              <a:t>    ├ @Order(200) ExternalSkillExecutor   —— 外部 Skill，从磁盘 skills/&lt;id&gt;/ 加载</a:t>
            </a:r>
          </a:p>
          <a:p>
            <a:pPr lvl="2"/>
            <a:r>
              <a:rPr lang="zh-CN" altLang="zh-CN" dirty="0"/>
              <a:t>    └── Spring 自动装配 SkillExecutorRegistry —— 新增执行器无需改调度器</a:t>
            </a:r>
          </a:p>
          <a:p>
            <a:r>
              <a:rPr lang="zh-CN" altLang="zh-CN" b="1" dirty="0"/>
              <a:t>外部 Skill 三段式执行</a:t>
            </a:r>
            <a:r>
              <a:rPr lang="zh-CN" altLang="zh-CN" dirty="0"/>
              <a:t>（fallback 链）：</a:t>
            </a:r>
          </a:p>
          <a:p>
            <a:pPr lvl="1"/>
            <a:r>
              <a:rPr lang="zh-CN" altLang="zh-CN" b="1" dirty="0"/>
              <a:t>Python 脚本</a:t>
            </a:r>
            <a:r>
              <a:rPr lang="zh-CN" altLang="zh-CN" dirty="0"/>
              <a:t>：__main__.py，ProcessBuilder + stdin/stdout JSON，超时可配</a:t>
            </a:r>
          </a:p>
          <a:p>
            <a:pPr lvl="1"/>
            <a:r>
              <a:rPr lang="zh-CN" altLang="zh-CN" b="1" dirty="0"/>
              <a:t>CLI Command</a:t>
            </a:r>
            <a:r>
              <a:rPr lang="zh-CN" altLang="zh-CN" dirty="0"/>
              <a:t>：解析 </a:t>
            </a:r>
            <a:r>
              <a:rPr lang="zh-CN" altLang="zh-CN" u="sng" dirty="0">
                <a:hlinkClick r:id="rId2"/>
              </a:rPr>
              <a:t>skill.md</a:t>
            </a:r>
            <a:r>
              <a:rPr lang="zh-CN" altLang="zh-CN" dirty="0"/>
              <a:t> 的 ## CLI Command 块，占位符插值</a:t>
            </a:r>
          </a:p>
          <a:p>
            <a:pPr lvl="1"/>
            <a:r>
              <a:rPr lang="zh-CN" altLang="zh-CN" b="1" dirty="0"/>
              <a:t>LLM Guidance</a:t>
            </a:r>
            <a:r>
              <a:rPr lang="zh-CN" altLang="zh-CN" dirty="0"/>
              <a:t>：读 </a:t>
            </a:r>
            <a:r>
              <a:rPr lang="zh-CN" altLang="zh-CN" u="sng" dirty="0">
                <a:hlinkClick r:id="rId3"/>
              </a:rPr>
              <a:t>agent.md</a:t>
            </a:r>
            <a:r>
              <a:rPr lang="zh-CN" altLang="zh-CN" dirty="0"/>
              <a:t> + </a:t>
            </a:r>
            <a:r>
              <a:rPr lang="zh-CN" altLang="zh-CN" u="sng" dirty="0">
                <a:hlinkClick r:id="rId2"/>
              </a:rPr>
              <a:t>skill.md</a:t>
            </a:r>
            <a:r>
              <a:rPr lang="zh-CN" altLang="zh-CN" dirty="0"/>
              <a:t> 构造 system prompt 调 LLM</a:t>
            </a:r>
            <a:endParaRPr lang="en-US" altLang="zh-CN" dirty="0"/>
          </a:p>
          <a:p>
            <a:pPr lvl="1"/>
            <a:endParaRPr lang="zh-CN" altLang="zh-CN" dirty="0"/>
          </a:p>
          <a:p>
            <a:r>
              <a:rPr lang="zh-CN" altLang="zh-CN" b="1" dirty="0"/>
              <a:t>标准对齐</a:t>
            </a:r>
            <a:r>
              <a:rPr lang="zh-CN" altLang="zh-CN" dirty="0"/>
              <a:t>：</a:t>
            </a:r>
            <a:endParaRPr lang="en-US" altLang="zh-CN" dirty="0"/>
          </a:p>
          <a:p>
            <a:pPr lvl="1"/>
            <a:r>
              <a:rPr lang="zh-CN" altLang="zh-CN" u="sng" dirty="0">
                <a:hlinkClick r:id="rId2"/>
              </a:rPr>
              <a:t>SKILL.md</a:t>
            </a:r>
            <a:r>
              <a:rPr lang="zh-CN" altLang="zh-CN" dirty="0"/>
              <a:t> / </a:t>
            </a:r>
            <a:r>
              <a:rPr lang="zh-CN" altLang="zh-CN" u="sng" dirty="0">
                <a:hlinkClick r:id="rId3"/>
              </a:rPr>
              <a:t>agent.md</a:t>
            </a:r>
            <a:r>
              <a:rPr lang="zh-CN" altLang="zh-CN" dirty="0"/>
              <a:t>（</a:t>
            </a:r>
            <a:r>
              <a:rPr lang="zh-CN" altLang="zh-CN" u="sng" dirty="0">
                <a:hlinkClick r:id="rId4"/>
              </a:rPr>
              <a:t>agentskills.io</a:t>
            </a:r>
            <a:r>
              <a:rPr lang="zh-CN" altLang="zh-CN" dirty="0"/>
              <a:t> 风格）双向解析与导出</a:t>
            </a:r>
            <a:endParaRPr lang="en-US" altLang="zh-CN" dirty="0"/>
          </a:p>
          <a:p>
            <a:pPr lvl="1"/>
            <a:endParaRPr lang="zh-CN" altLang="zh-CN" dirty="0"/>
          </a:p>
          <a:p>
            <a:r>
              <a:rPr lang="zh-CN" altLang="zh-CN" b="1" dirty="0"/>
              <a:t>匹配与质量评估</a:t>
            </a:r>
            <a:r>
              <a:rPr lang="zh-CN" altLang="zh-CN" dirty="0"/>
              <a:t>：</a:t>
            </a:r>
          </a:p>
          <a:p>
            <a:pPr lvl="1"/>
            <a:r>
              <a:rPr lang="zh-CN" altLang="zh-CN" dirty="0"/>
              <a:t>Trigger 打分：精确 1.0 → startsWith 0.8 → contains 0.6</a:t>
            </a:r>
          </a:p>
          <a:p>
            <a:pPr lvl="1"/>
            <a:r>
              <a:rPr lang="zh-CN" altLang="zh-CN" dirty="0"/>
              <a:t>可见性控制：PUBLIC / TENANT / PRIVATE 三级</a:t>
            </a:r>
          </a:p>
          <a:p>
            <a:pPr lvl="1"/>
            <a:r>
              <a:rPr lang="zh-CN" altLang="zh-CN" dirty="0"/>
              <a:t>版本管理：Skill 结晶自动生成版本号</a:t>
            </a:r>
          </a:p>
          <a:p>
            <a:pPr lvl="1"/>
            <a:r>
              <a:rPr lang="zh-CN" altLang="zh-CN" dirty="0"/>
              <a:t>安全边界：toRealPath() + startsWith(skillsDir) 防路径穿越</a:t>
            </a:r>
            <a:endParaRPr lang="en-US" altLang="zh-CN" dirty="0"/>
          </a:p>
          <a:p>
            <a:pPr lvl="1"/>
            <a:endParaRPr lang="zh-CN" altLang="zh-CN" dirty="0"/>
          </a:p>
          <a:p>
            <a:r>
              <a:rPr lang="zh-CN" altLang="zh-CN" b="1" dirty="0"/>
              <a:t>复用价值</a:t>
            </a:r>
            <a:endParaRPr lang="en-US" altLang="zh-CN" b="1" dirty="0"/>
          </a:p>
          <a:p>
            <a:pPr lvl="1"/>
            <a:r>
              <a:rPr lang="zh-CN" altLang="zh-CN" dirty="0"/>
              <a:t>第三方只需在 skills/&lt;id&gt;/ 目录放入 </a:t>
            </a:r>
            <a:r>
              <a:rPr lang="zh-CN" altLang="zh-CN" u="sng" dirty="0">
                <a:hlinkClick r:id="rId2"/>
              </a:rPr>
              <a:t>SKILL.md</a:t>
            </a:r>
            <a:r>
              <a:rPr lang="zh-CN" altLang="zh-CN" dirty="0"/>
              <a:t> + 执行脚本，即可零代码扩展 Agent 能力，无需修改 Java 源码。</a:t>
            </a:r>
          </a:p>
          <a:p>
            <a:pPr marL="0" indent="0">
              <a:lnSpc>
                <a:spcPct val="100000"/>
              </a:lnSpc>
              <a:buNone/>
            </a:pPr>
            <a:endParaRPr lang="zh-CN" altLang="zh-CN" sz="1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0587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DCFEA-5F59-420D-F085-86817EAEB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A33878-4DE6-96D3-187D-82658AA6C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b="1" dirty="0">
                <a:solidFill>
                  <a:schemeClr val="accent4">
                    <a:lumMod val="75000"/>
                  </a:schemeClr>
                </a:solidFill>
              </a:rPr>
              <a:t>工具集成与 MCP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793C9D3E-AE2F-43C9-43B2-1CE4B075C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78976" cy="4486275"/>
          </a:xfrm>
        </p:spPr>
        <p:txBody>
          <a:bodyPr>
            <a:normAutofit fontScale="55000" lnSpcReduction="20000"/>
          </a:bodyPr>
          <a:lstStyle/>
          <a:p>
            <a:r>
              <a:rPr lang="zh-CN" altLang="zh-CN" b="1" dirty="0"/>
              <a:t>25 个企业级工具</a:t>
            </a:r>
            <a:r>
              <a:rPr lang="zh-CN" altLang="zh-CN" dirty="0"/>
              <a:t>（JSON Schema 定义，LLM 可见）：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r>
              <a:rPr lang="zh-CN" altLang="zh-CN" b="1" dirty="0"/>
              <a:t>工具接入协议</a:t>
            </a:r>
            <a:r>
              <a:rPr lang="zh-CN" altLang="zh-CN" dirty="0"/>
              <a:t>（等价 MCP 集成契约）：</a:t>
            </a:r>
          </a:p>
          <a:p>
            <a:pPr lvl="1"/>
            <a:r>
              <a:rPr lang="zh-CN" altLang="zh-CN" dirty="0"/>
              <a:t>每个工具 = ToolDefinition（name / description / parameters JSON Schema / executor / isWrite / needsConfirm）</a:t>
            </a:r>
          </a:p>
          <a:p>
            <a:pPr lvl="1"/>
            <a:r>
              <a:rPr lang="zh-CN" altLang="zh-CN" dirty="0"/>
              <a:t>DocSysClient 用 OkHttp 稳定封装 MxsDoc 后端 40+ 个 .do 接口</a:t>
            </a:r>
          </a:p>
          <a:p>
            <a:pPr lvl="1"/>
            <a:r>
              <a:rPr lang="zh-CN" altLang="zh-CN" dirty="0"/>
              <a:t>写工具统一 needsConfirm=true，走 SSE 审批门（WriteConfirmGate）</a:t>
            </a:r>
          </a:p>
          <a:p>
            <a:pPr lvl="1"/>
            <a:r>
              <a:rPr lang="zh-CN" altLang="zh-CN" dirty="0"/>
              <a:t>工具执行结果自动截断（4000 字符），防上下文溢出</a:t>
            </a:r>
          </a:p>
          <a:p>
            <a:pPr lvl="1"/>
            <a:r>
              <a:rPr lang="zh-CN" altLang="zh-CN" dirty="0"/>
              <a:t>工具调用全程 Step 审计（[ToolUseLoop][STEP] 结构化日志）</a:t>
            </a:r>
            <a:endParaRPr lang="en-US" altLang="zh-CN" dirty="0"/>
          </a:p>
          <a:p>
            <a:pPr lvl="1"/>
            <a:endParaRPr lang="zh-CN" altLang="zh-CN" dirty="0"/>
          </a:p>
          <a:p>
            <a:r>
              <a:rPr lang="zh-CN" altLang="zh-CN" b="1" dirty="0"/>
              <a:t>RAG 能力落地</a:t>
            </a:r>
            <a:r>
              <a:rPr lang="zh-CN" altLang="zh-CN" dirty="0"/>
              <a:t>（4 项中 ≥2 项）：</a:t>
            </a:r>
          </a:p>
          <a:p>
            <a:pPr lvl="1"/>
            <a:r>
              <a:rPr lang="zh-CN" altLang="zh-CN" dirty="0"/>
              <a:t>✅ </a:t>
            </a:r>
            <a:r>
              <a:rPr lang="zh-CN" altLang="zh-CN" b="1" dirty="0"/>
              <a:t>检索增强生成</a:t>
            </a:r>
            <a:r>
              <a:rPr lang="zh-CN" altLang="zh-CN" dirty="0"/>
              <a:t>：rag_chat 工具，走 DocSys RAG 管线（文档向量化 + 语义检索）</a:t>
            </a:r>
          </a:p>
          <a:p>
            <a:pPr lvl="1"/>
            <a:r>
              <a:rPr lang="zh-CN" altLang="zh-CN" dirty="0"/>
              <a:t>✅ </a:t>
            </a:r>
            <a:r>
              <a:rPr lang="zh-CN" altLang="zh-CN" b="1" dirty="0"/>
              <a:t>全文搜索</a:t>
            </a:r>
            <a:r>
              <a:rPr lang="zh-CN" altLang="zh-CN" dirty="0"/>
              <a:t>：search_docs 工具，走 DocSys 全文检索引擎</a:t>
            </a:r>
          </a:p>
          <a:p>
            <a:pPr lvl="1"/>
            <a:r>
              <a:rPr lang="zh-CN" altLang="zh-CN" dirty="0"/>
              <a:t>✅ </a:t>
            </a:r>
            <a:r>
              <a:rPr lang="zh-CN" altLang="zh-CN" b="1" dirty="0"/>
              <a:t>会话历史注入</a:t>
            </a:r>
            <a:r>
              <a:rPr lang="zh-CN" altLang="zh-CN" dirty="0"/>
              <a:t>：最近 20 条对话作为上下文增强</a:t>
            </a:r>
          </a:p>
          <a:p>
            <a:pPr lvl="1"/>
            <a:r>
              <a:rPr lang="zh-CN" altLang="zh-CN" dirty="0"/>
              <a:t>✅ </a:t>
            </a:r>
            <a:r>
              <a:rPr lang="zh-CN" altLang="zh-CN" b="1" dirty="0"/>
              <a:t>用户记忆持久化</a:t>
            </a:r>
            <a:r>
              <a:rPr lang="zh-CN" altLang="zh-CN" dirty="0"/>
              <a:t>：memory_set/get/list 工具，跨会话记忆复用</a:t>
            </a:r>
          </a:p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BCA9169F-CA87-BEBE-21BC-A5DA20AE77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216175"/>
              </p:ext>
            </p:extLst>
          </p:nvPr>
        </p:nvGraphicFramePr>
        <p:xfrm>
          <a:off x="1080778" y="2010805"/>
          <a:ext cx="10119089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525">
                  <a:extLst>
                    <a:ext uri="{9D8B030D-6E8A-4147-A177-3AD203B41FA5}">
                      <a16:colId xmlns:a16="http://schemas.microsoft.com/office/drawing/2014/main" val="2377326142"/>
                    </a:ext>
                  </a:extLst>
                </a:gridCol>
                <a:gridCol w="1382886">
                  <a:extLst>
                    <a:ext uri="{9D8B030D-6E8A-4147-A177-3AD203B41FA5}">
                      <a16:colId xmlns:a16="http://schemas.microsoft.com/office/drawing/2014/main" val="455363279"/>
                    </a:ext>
                  </a:extLst>
                </a:gridCol>
                <a:gridCol w="7109678">
                  <a:extLst>
                    <a:ext uri="{9D8B030D-6E8A-4147-A177-3AD203B41FA5}">
                      <a16:colId xmlns:a16="http://schemas.microsoft.com/office/drawing/2014/main" val="902522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dirty="0"/>
                        <a:t>分组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084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只读工具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list_repos / get_doc / search_docs / get_doc_history / get_login_user / rag_chat / web_search / memory_get / memory_list …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812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写工具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create_repos / delete_repos / create_doc / delete_doc / rename_doc / move_doc / upload_doc / lock_doc / memory_set …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189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551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67059-C3D5-B027-AFEF-B6669B9D0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9BC6BF-62B2-5645-3947-A4D831B5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b="1" dirty="0">
                <a:solidFill>
                  <a:schemeClr val="accent4">
                    <a:lumMod val="75000"/>
                  </a:schemeClr>
                </a:solidFill>
              </a:rPr>
              <a:t>结果验证与异常处理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8EECF7-1494-D437-3A98-8E51FCFDD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zh-CN" sz="2600" b="1" dirty="0"/>
              <a:t>结果验证机制</a:t>
            </a:r>
            <a:r>
              <a:rPr lang="zh-CN" altLang="zh-CN" sz="2600" dirty="0"/>
              <a:t>：</a:t>
            </a:r>
          </a:p>
          <a:p>
            <a:pPr lvl="1"/>
            <a:r>
              <a:rPr lang="zh-CN" altLang="zh-CN" sz="1300" dirty="0"/>
              <a:t>编排层校验：成功子任务数 ≥ 期望数 → 标记 COMPLETED</a:t>
            </a:r>
          </a:p>
          <a:p>
            <a:pPr lvl="1"/>
            <a:r>
              <a:rPr lang="zh-CN" altLang="zh-CN" sz="1300" dirty="0"/>
              <a:t>SelfDiagnostics：滑动窗口（200 条）计算成功率 + P50/P95/P99 延迟</a:t>
            </a:r>
          </a:p>
          <a:p>
            <a:pPr lvl="1"/>
            <a:r>
              <a:rPr lang="zh-CN" altLang="zh-CN" sz="1300" dirty="0"/>
              <a:t>错误率 &gt; 30% 或 P95 &gt; 5s → 告警（30 分钟去重）</a:t>
            </a:r>
          </a:p>
          <a:p>
            <a:pPr lvl="1"/>
            <a:r>
              <a:rPr lang="zh-CN" altLang="zh-CN" sz="1300" dirty="0"/>
              <a:t>ToolUseLoop：LLM 自主验证工具返回结果，结果不符合预期 → 换策略重试</a:t>
            </a:r>
          </a:p>
          <a:p>
            <a:pPr lvl="1"/>
            <a:r>
              <a:rPr lang="zh-CN" altLang="zh-CN" sz="1300" dirty="0"/>
              <a:t>防死循环：MAX_TURNS=10 + MAX_IDENTICAL_CALLS=3 + MAX_MALFORMED=3</a:t>
            </a:r>
            <a:endParaRPr lang="en-US" altLang="zh-CN" sz="1300" b="1" dirty="0"/>
          </a:p>
          <a:p>
            <a:endParaRPr lang="en-US" altLang="zh-CN" sz="2600" b="1" dirty="0"/>
          </a:p>
          <a:p>
            <a:r>
              <a:rPr lang="zh-CN" altLang="zh-CN" sz="2600" b="1" dirty="0"/>
              <a:t>异常分支全覆盖 </a:t>
            </a:r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zh-CN" altLang="zh-CN" sz="2600" b="1" dirty="0"/>
              <a:t>可靠性保障</a:t>
            </a:r>
            <a:endParaRPr lang="en-US" altLang="zh-CN" sz="2600" b="1" dirty="0"/>
          </a:p>
          <a:p>
            <a:pPr lvl="1"/>
            <a:r>
              <a:rPr lang="zh-CN" altLang="zh-CN" sz="1300" dirty="0"/>
              <a:t>MySQL/SQLite 持久化任务队列，五态状态机（PENDING / RUNNING / COMPLETED / FAILED / RETRY_PENDING），启动可恢复 stale 任务。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B05FB2E-17D6-AE23-5C1E-2C0C23BF2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419" y="3655513"/>
            <a:ext cx="5038016" cy="167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912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B6227-90D6-DB6A-28D6-E81CB1909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20EDB2-6E29-DAD8-AE13-12E511E2D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b="1" dirty="0">
                <a:solidFill>
                  <a:schemeClr val="accent4">
                    <a:lumMod val="75000"/>
                  </a:schemeClr>
                </a:solidFill>
              </a:rPr>
              <a:t>安全边界与风险控制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EECEF9-172B-3DFB-080B-C43381F71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00000"/>
              </a:lnSpc>
            </a:pPr>
            <a:r>
              <a:rPr lang="zh-CN" altLang="zh-CN" b="1" dirty="0"/>
              <a:t>写操作审批闭环</a:t>
            </a:r>
            <a:r>
              <a:rPr lang="zh-CN" altLang="zh-CN" dirty="0"/>
              <a:t>：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zh-CN" altLang="zh-CN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zh-CN" b="1" dirty="0"/>
              <a:t>审计与脱敏</a:t>
            </a:r>
            <a:r>
              <a:rPr lang="zh-CN" altLang="zh-CN" dirty="0"/>
              <a:t>：</a:t>
            </a:r>
            <a:endParaRPr lang="en-US" altLang="zh-CN" dirty="0"/>
          </a:p>
          <a:p>
            <a:pPr lvl="1"/>
            <a:r>
              <a:rPr lang="zh-CN" altLang="zh-CN" dirty="0"/>
              <a:t>仅审计写操作（降低存储与性能开销）</a:t>
            </a:r>
          </a:p>
          <a:p>
            <a:pPr lvl="1"/>
            <a:r>
              <a:rPr lang="zh-CN" altLang="zh-CN" dirty="0"/>
              <a:t>敏感字段（password / token / cookie / content …）SHA-256 哈希或 [REDACTED]</a:t>
            </a:r>
          </a:p>
          <a:p>
            <a:pPr lvl="1"/>
            <a:r>
              <a:rPr lang="zh-CN" altLang="zh-CN" dirty="0"/>
              <a:t>审计状态机：PENDING → APPROVED/REJECTED → COMPLETED/FAILED</a:t>
            </a:r>
          </a:p>
          <a:p>
            <a:pPr lvl="1"/>
            <a:r>
              <a:rPr lang="zh-CN" altLang="zh-CN" dirty="0"/>
              <a:t>Step 审计：每步工具调用记录 [ToolUseLoop][STEP] 结构化日志（sessionId / requestId / turn / tool / args / success / durationMs）</a:t>
            </a:r>
            <a:endParaRPr lang="zh-CN" altLang="zh-CN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zh-CN" altLang="zh-CN" b="1" dirty="0"/>
              <a:t>限流保护</a:t>
            </a:r>
            <a:r>
              <a:rPr lang="zh-CN" altLang="zh-CN" dirty="0"/>
              <a:t>：</a:t>
            </a:r>
            <a:endParaRPr lang="en-US" altLang="zh-CN" dirty="0"/>
          </a:p>
          <a:p>
            <a:pPr lvl="1"/>
            <a:r>
              <a:rPr lang="zh-CN" altLang="zh-CN" dirty="0"/>
              <a:t>Bucket4j 令牌桶：per-IP / per-API-key 独立限流</a:t>
            </a:r>
          </a:p>
          <a:p>
            <a:pPr lvl="1"/>
            <a:r>
              <a:rPr lang="zh-CN" altLang="zh-CN" dirty="0"/>
              <a:t>每 IP 并发 SSE 连接限制</a:t>
            </a:r>
          </a:p>
          <a:p>
            <a:pPr lvl="1"/>
            <a:r>
              <a:rPr lang="zh-CN" altLang="zh-CN" dirty="0"/>
              <a:t>超限返回 429 + Retry-After 头</a:t>
            </a:r>
            <a:endParaRPr lang="en-US" altLang="zh-CN" dirty="0"/>
          </a:p>
          <a:p>
            <a:r>
              <a:rPr lang="zh-CN" altLang="zh-CN" b="1" dirty="0"/>
              <a:t>鉴权双模</a:t>
            </a:r>
            <a:r>
              <a:rPr lang="zh-CN" altLang="zh-CN" dirty="0"/>
              <a:t>：</a:t>
            </a:r>
            <a:endParaRPr lang="en-US" altLang="zh-CN" dirty="0"/>
          </a:p>
          <a:p>
            <a:pPr lvl="1"/>
            <a:r>
              <a:rPr lang="zh-CN" altLang="zh-CN" dirty="0"/>
              <a:t>同源：共享 MxsDoc HttpSession，免 API Key</a:t>
            </a:r>
          </a:p>
          <a:p>
            <a:pPr lvl="1"/>
            <a:r>
              <a:rPr lang="zh-CN" altLang="zh-CN" dirty="0"/>
              <a:t>对外：X-API-Key / Authorization: Bearer + 同源 session 双模</a:t>
            </a:r>
          </a:p>
          <a:p>
            <a:endParaRPr lang="en-US" altLang="zh-CN" sz="1400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zh-CN" altLang="zh-CN" sz="2600" b="1" dirty="0"/>
              <a:t>风险控制总结</a:t>
            </a:r>
            <a:r>
              <a:rPr lang="zh-CN" altLang="zh-CN" sz="2600" dirty="0"/>
              <a:t>：写操作不可绕过审批 → 不可跳过审计 → 不可突破限流 → 不可越权访问。</a:t>
            </a:r>
            <a:endParaRPr lang="zh-CN" altLang="zh-CN" sz="2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4E6192-9B99-A75C-0C05-6E7AEAB39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456" y="2040417"/>
            <a:ext cx="3854638" cy="119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724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3A0B7-6361-F6AC-C604-4F11D60C9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1650ED-2013-4E77-5892-D1CA515F9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b="1" dirty="0">
                <a:solidFill>
                  <a:schemeClr val="accent4">
                    <a:lumMod val="75000"/>
                  </a:schemeClr>
                </a:solidFill>
              </a:rPr>
              <a:t>可观测性</a:t>
            </a:r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A5CA3E94-FB59-2A10-FC1A-6CBD0DE6B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975005"/>
              </p:ext>
            </p:extLst>
          </p:nvPr>
        </p:nvGraphicFramePr>
        <p:xfrm>
          <a:off x="881158" y="1524039"/>
          <a:ext cx="10245063" cy="4814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9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02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5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81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能力</a:t>
                      </a:r>
                      <a:endParaRPr dirty="0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实现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78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Micrometer：agent.tool.call / agent.execution Timer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 已打点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78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健康探针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GET /api/agent/health：DocSys / LLM / Session 三探针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 已实现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78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自诊断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SelfDiagnostics：P50/P95/P99 + 错误率阈值告警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 每请求运行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78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结构化日志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MDC：requestId / sessionId / userId 串联全链路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 已实现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78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Step 审计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[ToolUseLoop][STEP] 每步工具调用可回溯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 已实现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78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执行证据链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 err="1"/>
                        <a:t>任务队列</a:t>
                      </a:r>
                      <a:r>
                        <a:rPr dirty="0"/>
                        <a:t> + </a:t>
                      </a:r>
                      <a:r>
                        <a:rPr dirty="0" err="1"/>
                        <a:t>审计表</a:t>
                      </a:r>
                      <a:r>
                        <a:rPr dirty="0"/>
                        <a:t> + Step </a:t>
                      </a:r>
                      <a:r>
                        <a:rPr dirty="0" err="1"/>
                        <a:t>日志</a:t>
                      </a:r>
                      <a:r>
                        <a:rPr dirty="0"/>
                        <a:t> → </a:t>
                      </a:r>
                      <a:r>
                        <a:rPr dirty="0" err="1"/>
                        <a:t>完整可复现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/>
                        <a:t>✅ </a:t>
                      </a:r>
                      <a:r>
                        <a:rPr dirty="0" err="1"/>
                        <a:t>可追溯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78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Prometheus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当前用内存 SimpleMeterRegistry，暴露端点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/>
                        <a:t>📋 </a:t>
                      </a:r>
                      <a:r>
                        <a:rPr dirty="0" err="1"/>
                        <a:t>计划</a:t>
                      </a:r>
                      <a:r>
                        <a:rPr lang="zh-CN" altLang="en-US" dirty="0"/>
                        <a:t>中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389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TraceId 贯通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 err="1"/>
                        <a:t>字段预留，MDC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贯通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/>
                        <a:t>📋</a:t>
                      </a:r>
                      <a:r>
                        <a:rPr lang="en-US" dirty="0"/>
                        <a:t> </a:t>
                      </a:r>
                      <a:r>
                        <a:rPr lang="zh-CN" altLang="en-US" dirty="0"/>
                        <a:t>计划中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66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可视化 Trace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/>
                        <a:t>多 Agent </a:t>
                      </a:r>
                      <a:r>
                        <a:rPr dirty="0" err="1"/>
                        <a:t>协同过程可视化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/>
                        <a:t>📋</a:t>
                      </a:r>
                      <a:r>
                        <a:rPr lang="en-US" dirty="0"/>
                        <a:t> </a:t>
                      </a:r>
                      <a:r>
                        <a:rPr lang="zh-CN" altLang="en-US" dirty="0"/>
                        <a:t>计划中</a:t>
                      </a:r>
                      <a:endParaRPr lang="en-US" altLang="zh-CN" dirty="0"/>
                    </a:p>
                    <a:p>
                      <a:pPr>
                        <a:defRPr sz="12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5213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02737-F4A6-8FFC-1E33-C2BDBC9AC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04A8D2-2718-5410-97FD-5DF3EA630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b="1" dirty="0">
                <a:solidFill>
                  <a:schemeClr val="accent4">
                    <a:lumMod val="75000"/>
                  </a:schemeClr>
                </a:solidFill>
              </a:rPr>
              <a:t>自进化能力</a:t>
            </a:r>
            <a:endParaRPr lang="zh-CN" altLang="zh-CN" sz="4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9B6F54-EE81-EA49-552B-D93AF4B67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4720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rPr lang="zh-CN" altLang="en-US" sz="6200" b="1" dirty="0"/>
              <a:t>经验记忆（真实运转）</a:t>
            </a:r>
            <a:r>
              <a:rPr lang="zh-CN" altLang="en-US" dirty="0"/>
              <a:t>：</a:t>
            </a:r>
          </a:p>
          <a:p>
            <a:pPr marL="1238400" lvl="3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/>
            </a:pPr>
            <a:r>
              <a:rPr lang="zh-CN" altLang="en-US" sz="4600" dirty="0">
                <a:solidFill>
                  <a:schemeClr val="bg2">
                    <a:lumMod val="50000"/>
                  </a:schemeClr>
                </a:solidFill>
              </a:rPr>
              <a:t>多层记忆记录每次执行结果</a:t>
            </a:r>
          </a:p>
          <a:p>
            <a:pPr marL="1238400" lvl="3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/>
            </a:pPr>
            <a:r>
              <a:rPr lang="en-US" altLang="zh-CN" sz="46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zh-CN" altLang="en-US" sz="4600" dirty="0">
                <a:solidFill>
                  <a:schemeClr val="bg2">
                    <a:lumMod val="50000"/>
                  </a:schemeClr>
                </a:solidFill>
              </a:rPr>
              <a:t>识别历史意图，复用成功经验</a:t>
            </a:r>
          </a:p>
          <a:p>
            <a:pPr marL="1238400" lvl="3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/>
            </a:pPr>
            <a:r>
              <a:rPr lang="en-US" altLang="zh-CN" sz="4600" dirty="0" err="1">
                <a:solidFill>
                  <a:schemeClr val="bg2">
                    <a:lumMod val="50000"/>
                  </a:schemeClr>
                </a:solidFill>
              </a:rPr>
              <a:t>memory_set</a:t>
            </a:r>
            <a:r>
              <a:rPr lang="en-US" altLang="zh-CN" sz="4600" dirty="0">
                <a:solidFill>
                  <a:schemeClr val="bg2">
                    <a:lumMod val="50000"/>
                  </a:schemeClr>
                </a:solidFill>
              </a:rPr>
              <a:t>/get/list </a:t>
            </a:r>
            <a:r>
              <a:rPr lang="zh-CN" altLang="en-US" sz="4600" dirty="0">
                <a:solidFill>
                  <a:schemeClr val="bg2">
                    <a:lumMod val="50000"/>
                  </a:schemeClr>
                </a:solidFill>
              </a:rPr>
              <a:t>工具支持用户级持久记忆</a:t>
            </a:r>
            <a:endParaRPr lang="en-US" altLang="zh-CN" sz="4600" dirty="0">
              <a:solidFill>
                <a:schemeClr val="bg2">
                  <a:lumMod val="50000"/>
                </a:schemeClr>
              </a:solidFill>
            </a:endParaRPr>
          </a:p>
          <a:p>
            <a:pPr marL="1238400" lvl="3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/>
            </a:pPr>
            <a:endParaRPr lang="en-US" altLang="zh-CN" sz="4600" dirty="0">
              <a:solidFill>
                <a:schemeClr val="bg2">
                  <a:lumMod val="50000"/>
                </a:schemeClr>
              </a:solidFill>
            </a:endParaRPr>
          </a:p>
          <a:p>
            <a:pPr marL="781200" lvl="2">
              <a:lnSpc>
                <a:spcPct val="120000"/>
              </a:lnSpc>
              <a:spcBef>
                <a:spcPts val="0"/>
              </a:spcBef>
              <a:defRPr sz="1800"/>
            </a:pPr>
            <a:endParaRPr lang="zh-CN" altLang="en-US" dirty="0"/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rPr lang="zh-CN" altLang="en-US" sz="6400" b="1" dirty="0"/>
              <a:t>技能结晶（从经验到可复用 </a:t>
            </a:r>
            <a:r>
              <a:rPr lang="en-US" altLang="zh-CN" sz="6400" b="1" dirty="0"/>
              <a:t>Skill</a:t>
            </a:r>
            <a:r>
              <a:rPr lang="zh-CN" altLang="en-US" sz="6400" b="1" dirty="0"/>
              <a:t>）：</a:t>
            </a:r>
            <a:endParaRPr lang="en-US" altLang="zh-CN" sz="6400" b="1"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1800"/>
            </a:pPr>
            <a:r>
              <a:rPr lang="zh-CN" altLang="en-US" sz="4800" dirty="0">
                <a:solidFill>
                  <a:schemeClr val="bg2">
                    <a:lumMod val="50000"/>
                  </a:schemeClr>
                </a:solidFill>
              </a:rPr>
              <a:t>某任务类型重复成功 </a:t>
            </a:r>
            <a:r>
              <a:rPr lang="en-US" altLang="zh-CN" sz="4800" dirty="0">
                <a:solidFill>
                  <a:schemeClr val="bg2">
                    <a:lumMod val="50000"/>
                  </a:schemeClr>
                </a:solidFill>
              </a:rPr>
              <a:t>N </a:t>
            </a:r>
            <a:r>
              <a:rPr lang="zh-CN" altLang="en-US" sz="4800" dirty="0">
                <a:solidFill>
                  <a:schemeClr val="bg2">
                    <a:lumMod val="50000"/>
                  </a:schemeClr>
                </a:solidFill>
              </a:rPr>
              <a:t>次（阈值</a:t>
            </a:r>
            <a:r>
              <a:rPr lang="en-US" altLang="zh-CN" sz="4800" dirty="0">
                <a:solidFill>
                  <a:schemeClr val="bg2">
                    <a:lumMod val="50000"/>
                  </a:schemeClr>
                </a:solidFill>
              </a:rPr>
              <a:t>=3</a:t>
            </a:r>
            <a:r>
              <a:rPr lang="zh-CN" altLang="en-US" sz="4800" dirty="0">
                <a:solidFill>
                  <a:schemeClr val="bg2">
                    <a:lumMod val="50000"/>
                  </a:schemeClr>
                </a:solidFill>
              </a:rPr>
              <a:t>）</a:t>
            </a:r>
          </a:p>
          <a:p>
            <a:pPr marL="1238400" lvl="3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/>
            </a:pPr>
            <a:r>
              <a:rPr lang="zh-CN" altLang="en-US" sz="4600" dirty="0">
                <a:solidFill>
                  <a:schemeClr val="bg2">
                    <a:lumMod val="50000"/>
                  </a:schemeClr>
                </a:solidFill>
              </a:rPr>
              <a:t>  → </a:t>
            </a:r>
            <a:r>
              <a:rPr lang="en-US" altLang="zh-CN" sz="4600" dirty="0" err="1">
                <a:solidFill>
                  <a:schemeClr val="bg2">
                    <a:lumMod val="50000"/>
                  </a:schemeClr>
                </a:solidFill>
              </a:rPr>
              <a:t>SkillCrystallizer</a:t>
            </a:r>
            <a:r>
              <a:rPr lang="zh-CN" altLang="en-US" sz="4600" dirty="0">
                <a:solidFill>
                  <a:schemeClr val="bg2">
                    <a:lumMod val="50000"/>
                  </a:schemeClr>
                </a:solidFill>
              </a:rPr>
              <a:t> 检查无内置 </a:t>
            </a:r>
            <a:r>
              <a:rPr lang="en-US" altLang="zh-CN" sz="4600" dirty="0">
                <a:solidFill>
                  <a:schemeClr val="bg2">
                    <a:lumMod val="50000"/>
                  </a:schemeClr>
                </a:solidFill>
              </a:rPr>
              <a:t>Skill </a:t>
            </a:r>
            <a:r>
              <a:rPr lang="zh-CN" altLang="en-US" sz="4600" dirty="0">
                <a:solidFill>
                  <a:schemeClr val="bg2">
                    <a:lumMod val="50000"/>
                  </a:schemeClr>
                </a:solidFill>
              </a:rPr>
              <a:t>覆盖</a:t>
            </a:r>
          </a:p>
          <a:p>
            <a:pPr marL="1238400" lvl="3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/>
            </a:pPr>
            <a:r>
              <a:rPr lang="zh-CN" altLang="en-US" sz="4600" dirty="0">
                <a:solidFill>
                  <a:schemeClr val="bg2">
                    <a:lumMod val="50000"/>
                  </a:schemeClr>
                </a:solidFill>
              </a:rPr>
              <a:t>  → 自动生成 </a:t>
            </a:r>
            <a:r>
              <a:rPr lang="en-US" altLang="zh-CN" sz="4600" dirty="0">
                <a:solidFill>
                  <a:schemeClr val="bg2">
                    <a:lumMod val="50000"/>
                  </a:schemeClr>
                </a:solidFill>
              </a:rPr>
              <a:t>SKILL.md</a:t>
            </a:r>
            <a:r>
              <a:rPr lang="zh-CN" altLang="en-US" sz="4600" dirty="0">
                <a:solidFill>
                  <a:schemeClr val="bg2">
                    <a:lumMod val="50000"/>
                  </a:schemeClr>
                </a:solidFill>
              </a:rPr>
              <a:t>（含 </a:t>
            </a:r>
            <a:r>
              <a:rPr lang="en-US" altLang="zh-CN" sz="4600" dirty="0">
                <a:solidFill>
                  <a:schemeClr val="bg2">
                    <a:lumMod val="50000"/>
                  </a:schemeClr>
                </a:solidFill>
              </a:rPr>
              <a:t>name / description / trigger / version</a:t>
            </a:r>
            <a:r>
              <a:rPr lang="zh-CN" altLang="en-US" sz="4600" dirty="0">
                <a:solidFill>
                  <a:schemeClr val="bg2">
                    <a:lumMod val="50000"/>
                  </a:schemeClr>
                </a:solidFill>
              </a:rPr>
              <a:t>）</a:t>
            </a:r>
          </a:p>
          <a:p>
            <a:pPr marL="1238400" lvl="3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/>
            </a:pPr>
            <a:r>
              <a:rPr lang="zh-CN" altLang="en-US" sz="4600" dirty="0">
                <a:solidFill>
                  <a:schemeClr val="bg2">
                    <a:lumMod val="50000"/>
                  </a:schemeClr>
                </a:solidFill>
              </a:rPr>
              <a:t>  → </a:t>
            </a:r>
            <a:r>
              <a:rPr lang="en-US" altLang="zh-CN" sz="4600" dirty="0" err="1">
                <a:solidFill>
                  <a:schemeClr val="bg2">
                    <a:lumMod val="50000"/>
                  </a:schemeClr>
                </a:solidFill>
              </a:rPr>
              <a:t>EnhancedSkillManager</a:t>
            </a:r>
            <a:r>
              <a:rPr lang="zh-CN" altLang="en-US" sz="4600" dirty="0">
                <a:solidFill>
                  <a:schemeClr val="bg2">
                    <a:lumMod val="50000"/>
                  </a:schemeClr>
                </a:solidFill>
              </a:rPr>
              <a:t> 解析注册为新 </a:t>
            </a:r>
            <a:r>
              <a:rPr lang="en-US" altLang="zh-CN" sz="4600" dirty="0">
                <a:solidFill>
                  <a:schemeClr val="bg2">
                    <a:lumMod val="50000"/>
                  </a:schemeClr>
                </a:solidFill>
              </a:rPr>
              <a:t>Skill</a:t>
            </a:r>
          </a:p>
          <a:p>
            <a:pPr marL="1238400" lvl="3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/>
            </a:pPr>
            <a:r>
              <a:rPr lang="en-US" altLang="zh-CN" sz="4600" dirty="0">
                <a:solidFill>
                  <a:schemeClr val="bg2">
                    <a:lumMod val="50000"/>
                  </a:schemeClr>
                </a:solidFill>
              </a:rPr>
              <a:t>  → </a:t>
            </a:r>
            <a:r>
              <a:rPr lang="zh-CN" altLang="en-US" sz="4600" dirty="0">
                <a:solidFill>
                  <a:schemeClr val="bg2">
                    <a:lumMod val="50000"/>
                  </a:schemeClr>
                </a:solidFill>
              </a:rPr>
              <a:t>下次同类请求优先匹配，跳过 </a:t>
            </a:r>
            <a:r>
              <a:rPr lang="en-US" altLang="zh-CN" sz="4600" dirty="0">
                <a:solidFill>
                  <a:schemeClr val="bg2">
                    <a:lumMod val="50000"/>
                  </a:schemeClr>
                </a:solidFill>
              </a:rPr>
              <a:t>LLM </a:t>
            </a:r>
            <a:r>
              <a:rPr lang="zh-CN" altLang="en-US" sz="4600" dirty="0">
                <a:solidFill>
                  <a:schemeClr val="bg2">
                    <a:lumMod val="50000"/>
                  </a:schemeClr>
                </a:solidFill>
              </a:rPr>
              <a:t>推理，直接执行</a:t>
            </a:r>
            <a:endParaRPr lang="en-US" altLang="zh-CN" sz="4600" dirty="0">
              <a:solidFill>
                <a:schemeClr val="bg2">
                  <a:lumMod val="50000"/>
                </a:schemeClr>
              </a:solidFill>
            </a:endParaRPr>
          </a:p>
          <a:p>
            <a:pPr marL="1238400" lvl="3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/>
            </a:pPr>
            <a:endParaRPr lang="zh-CN" altLang="en-US" sz="46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rPr lang="zh-CN" altLang="en-US" sz="6400" b="1" dirty="0"/>
              <a:t>自诊断（持续健康监控）：</a:t>
            </a:r>
          </a:p>
          <a:p>
            <a:pPr lvl="2">
              <a:lnSpc>
                <a:spcPct val="120000"/>
              </a:lnSpc>
              <a:spcAft>
                <a:spcPts val="600"/>
              </a:spcAft>
              <a:defRPr sz="1800"/>
            </a:pPr>
            <a:r>
              <a:rPr lang="zh-CN" altLang="en-US" sz="4800" dirty="0">
                <a:solidFill>
                  <a:schemeClr val="bg2">
                    <a:lumMod val="50000"/>
                  </a:schemeClr>
                </a:solidFill>
              </a:rPr>
              <a:t>滑动窗口实时统计成功率与延迟</a:t>
            </a:r>
          </a:p>
          <a:p>
            <a:pPr lvl="2">
              <a:spcBef>
                <a:spcPts val="600"/>
              </a:spcBef>
              <a:spcAft>
                <a:spcPts val="600"/>
              </a:spcAft>
              <a:defRPr sz="1800"/>
            </a:pPr>
            <a:r>
              <a:rPr lang="zh-CN" altLang="en-US" sz="4400" dirty="0">
                <a:solidFill>
                  <a:schemeClr val="bg2">
                    <a:lumMod val="50000"/>
                  </a:schemeClr>
                </a:solidFill>
              </a:rPr>
              <a:t>异常自动告警，辅助运维决策</a:t>
            </a:r>
            <a:endParaRPr lang="en-US" altLang="zh-CN" sz="4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2911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80FE9-ACD6-CB22-8042-73DE90192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2ECCA5-05D9-61B6-7E18-18CFF38E3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b="1" dirty="0">
                <a:solidFill>
                  <a:schemeClr val="accent4">
                    <a:lumMod val="75000"/>
                  </a:schemeClr>
                </a:solidFill>
              </a:rPr>
              <a:t>可行性与落地计划</a:t>
            </a:r>
            <a:endParaRPr lang="zh-CN" altLang="zh-CN" sz="4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217276-AC91-F7BF-910A-978095F05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rPr lang="zh-CN" altLang="en-US" sz="1400" b="1" dirty="0"/>
              <a:t>已完成（初赛阶段）：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/>
            </a:pPr>
            <a:r>
              <a:rPr lang="zh-CN" altLang="en-US" sz="1000" dirty="0"/>
              <a:t>✅ </a:t>
            </a:r>
            <a:r>
              <a:rPr lang="en-US" altLang="zh-CN" sz="1000" dirty="0"/>
              <a:t>Agent </a:t>
            </a:r>
            <a:r>
              <a:rPr lang="zh-CN" altLang="en-US" sz="1000" dirty="0"/>
              <a:t>合并进 </a:t>
            </a:r>
            <a:r>
              <a:rPr lang="en-US" altLang="zh-CN" sz="1000" dirty="0" err="1"/>
              <a:t>MxsDoc</a:t>
            </a:r>
            <a:r>
              <a:rPr lang="zh-CN" altLang="en-US" sz="1000" dirty="0"/>
              <a:t> 同一 </a:t>
            </a:r>
            <a:r>
              <a:rPr lang="en-US" altLang="zh-CN" sz="1000" dirty="0"/>
              <a:t>WAR</a:t>
            </a:r>
            <a:r>
              <a:rPr lang="zh-CN" altLang="en-US" sz="1000" dirty="0"/>
              <a:t>，共享会话</a:t>
            </a:r>
            <a:r>
              <a:rPr lang="en-US" altLang="zh-CN" sz="1000" dirty="0"/>
              <a:t>/</a:t>
            </a:r>
            <a:r>
              <a:rPr lang="zh-CN" altLang="en-US" sz="1000" dirty="0"/>
              <a:t>数据源</a:t>
            </a:r>
            <a:r>
              <a:rPr lang="en-US" altLang="zh-CN" sz="1000" dirty="0"/>
              <a:t>/LLM </a:t>
            </a:r>
            <a:r>
              <a:rPr lang="zh-CN" altLang="en-US" sz="1000" dirty="0"/>
              <a:t>配置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/>
            </a:pPr>
            <a:r>
              <a:rPr lang="zh-CN" altLang="en-US" sz="1000" dirty="0"/>
              <a:t>✅ </a:t>
            </a:r>
            <a:r>
              <a:rPr lang="en-US" altLang="zh-CN" sz="1000" dirty="0" err="1"/>
              <a:t>ToolUseLoop</a:t>
            </a:r>
            <a:r>
              <a:rPr lang="zh-CN" altLang="en-US" sz="1000" dirty="0"/>
              <a:t> 流式推理引擎为主路径，</a:t>
            </a:r>
            <a:r>
              <a:rPr lang="en-US" altLang="zh-CN" sz="1000" dirty="0"/>
              <a:t>LLM</a:t>
            </a:r>
            <a:r>
              <a:rPr lang="zh-CN" altLang="en-US" sz="1000" dirty="0"/>
              <a:t> 自主多轮工具调用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/>
            </a:pPr>
            <a:r>
              <a:rPr lang="zh-CN" altLang="en-US" sz="1000" dirty="0"/>
              <a:t>✅ </a:t>
            </a:r>
            <a:r>
              <a:rPr lang="en-US" altLang="zh-CN" sz="1000" dirty="0"/>
              <a:t>25 </a:t>
            </a:r>
            <a:r>
              <a:rPr lang="zh-CN" altLang="en-US" sz="1000" dirty="0"/>
              <a:t>个工具全部定义、注册、端到端验证通过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/>
            </a:pPr>
            <a:r>
              <a:rPr lang="zh-CN" altLang="en-US" sz="1000" dirty="0"/>
              <a:t>✅ 写操作 </a:t>
            </a:r>
            <a:r>
              <a:rPr lang="en-US" altLang="zh-CN" sz="1000" dirty="0"/>
              <a:t>SSE </a:t>
            </a:r>
            <a:r>
              <a:rPr lang="zh-CN" altLang="en-US" sz="1000" dirty="0"/>
              <a:t>二次确认 </a:t>
            </a:r>
            <a:r>
              <a:rPr lang="en-US" altLang="zh-CN" sz="1000" dirty="0"/>
              <a:t>+ SHA-256 </a:t>
            </a:r>
            <a:r>
              <a:rPr lang="zh-CN" altLang="en-US" sz="1000" dirty="0"/>
              <a:t>审计脱敏 </a:t>
            </a:r>
            <a:r>
              <a:rPr lang="en-US" altLang="zh-CN" sz="1000" dirty="0"/>
              <a:t>+ Bucket4j </a:t>
            </a:r>
            <a:r>
              <a:rPr lang="zh-CN" altLang="en-US" sz="1000" dirty="0"/>
              <a:t>限流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/>
            </a:pPr>
            <a:r>
              <a:rPr lang="zh-CN" altLang="en-US" sz="1000" dirty="0"/>
              <a:t>✅ 可插拔 </a:t>
            </a:r>
            <a:r>
              <a:rPr lang="en-US" altLang="zh-CN" sz="1000" dirty="0"/>
              <a:t>Skill </a:t>
            </a:r>
            <a:r>
              <a:rPr lang="zh-CN" altLang="en-US" sz="1000" dirty="0"/>
              <a:t>执行器 </a:t>
            </a:r>
            <a:r>
              <a:rPr lang="en-US" altLang="zh-CN" sz="1000" dirty="0"/>
              <a:t>+ SKILL.md </a:t>
            </a:r>
            <a:r>
              <a:rPr lang="zh-CN" altLang="en-US" sz="1000" dirty="0"/>
              <a:t>标准 </a:t>
            </a:r>
            <a:r>
              <a:rPr lang="en-US" altLang="zh-CN" sz="1000" dirty="0"/>
              <a:t>+ </a:t>
            </a:r>
            <a:r>
              <a:rPr lang="zh-CN" altLang="en-US" sz="1000" dirty="0"/>
              <a:t>外部 </a:t>
            </a:r>
            <a:r>
              <a:rPr lang="en-US" altLang="zh-CN" sz="1000" dirty="0"/>
              <a:t>Skill </a:t>
            </a:r>
            <a:r>
              <a:rPr lang="zh-CN" altLang="en-US" sz="1000" dirty="0"/>
              <a:t>三段式执行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/>
            </a:pPr>
            <a:r>
              <a:rPr lang="zh-CN" altLang="en-US" sz="1000" dirty="0"/>
              <a:t>✅ </a:t>
            </a:r>
            <a:r>
              <a:rPr lang="en-US" altLang="zh-CN" sz="1000" dirty="0"/>
              <a:t>Micrometer </a:t>
            </a:r>
            <a:r>
              <a:rPr lang="zh-CN" altLang="en-US" sz="1000" dirty="0"/>
              <a:t>指标 </a:t>
            </a:r>
            <a:r>
              <a:rPr lang="en-US" altLang="zh-CN" sz="1000" dirty="0"/>
              <a:t>+ </a:t>
            </a:r>
            <a:r>
              <a:rPr lang="zh-CN" altLang="en-US" sz="1000" dirty="0"/>
              <a:t>健康探针 </a:t>
            </a:r>
            <a:r>
              <a:rPr lang="en-US" altLang="zh-CN" sz="1000" dirty="0"/>
              <a:t>+ MDC </a:t>
            </a:r>
            <a:r>
              <a:rPr lang="zh-CN" altLang="en-US" sz="1000" dirty="0"/>
              <a:t>日志 </a:t>
            </a:r>
            <a:r>
              <a:rPr lang="en-US" altLang="zh-CN" sz="1000" dirty="0"/>
              <a:t>+ Step </a:t>
            </a:r>
            <a:r>
              <a:rPr lang="zh-CN" altLang="en-US" sz="1000" dirty="0"/>
              <a:t>审计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/>
            </a:pPr>
            <a:r>
              <a:rPr lang="zh-CN" altLang="en-US" sz="1000" dirty="0"/>
              <a:t>✅ </a:t>
            </a:r>
            <a:r>
              <a:rPr lang="en-US" altLang="zh-CN" sz="1000" dirty="0"/>
              <a:t>MySQL/SQLite </a:t>
            </a:r>
            <a:r>
              <a:rPr lang="zh-CN" altLang="en-US" sz="1000" dirty="0"/>
              <a:t>双方言 </a:t>
            </a:r>
            <a:r>
              <a:rPr lang="en-US" altLang="zh-CN" sz="1000" dirty="0"/>
              <a:t>+ </a:t>
            </a:r>
            <a:r>
              <a:rPr lang="zh-CN" altLang="en-US" sz="1000" dirty="0"/>
              <a:t>任务持久化五态状态机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/>
            </a:pPr>
            <a:r>
              <a:rPr lang="zh-CN" altLang="en-US" sz="1000" dirty="0"/>
              <a:t>✅ </a:t>
            </a:r>
            <a:r>
              <a:rPr lang="en-US" altLang="zh-CN" sz="1000" dirty="0"/>
              <a:t>249+ </a:t>
            </a:r>
            <a:r>
              <a:rPr lang="zh-CN" altLang="en-US" sz="1000" dirty="0"/>
              <a:t>单元测试全部通过</a:t>
            </a:r>
            <a:endParaRPr lang="zh-CN" altLang="en-US" sz="1400" b="1" dirty="0"/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rPr lang="zh-CN" altLang="en-US" sz="1400" b="1" dirty="0"/>
              <a:t>复赛计划（</a:t>
            </a:r>
            <a:r>
              <a:rPr lang="en-US" altLang="zh-CN" sz="1400" b="1" dirty="0"/>
              <a:t>8.25–9.3</a:t>
            </a:r>
            <a:r>
              <a:rPr lang="zh-CN" altLang="en-US" sz="1400" b="1" dirty="0"/>
              <a:t>）：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/>
            </a:pPr>
            <a:r>
              <a:rPr lang="zh-CN" altLang="en-US" sz="1000" dirty="0"/>
              <a:t>📋 多 </a:t>
            </a:r>
            <a:r>
              <a:rPr lang="en-US" altLang="zh-CN" sz="1000" dirty="0"/>
              <a:t>Agent </a:t>
            </a:r>
            <a:r>
              <a:rPr lang="zh-CN" altLang="en-US" sz="1000" dirty="0"/>
              <a:t>协同可视化 </a:t>
            </a:r>
            <a:r>
              <a:rPr lang="en-US" altLang="zh-CN" sz="1000" dirty="0"/>
              <a:t>Trace </a:t>
            </a:r>
            <a:r>
              <a:rPr lang="zh-CN" altLang="en-US" sz="1000" dirty="0"/>
              <a:t>页面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/>
            </a:pPr>
            <a:r>
              <a:rPr lang="zh-CN" altLang="en-US" sz="1000" dirty="0"/>
              <a:t>📋 打通 </a:t>
            </a:r>
            <a:r>
              <a:rPr lang="en-US" altLang="zh-CN" sz="1000" dirty="0" err="1"/>
              <a:t>traceId</a:t>
            </a:r>
            <a:r>
              <a:rPr lang="zh-CN" altLang="en-US" sz="1000" dirty="0"/>
              <a:t> 全链路（</a:t>
            </a:r>
            <a:r>
              <a:rPr lang="en-US" altLang="zh-CN" sz="1000" dirty="0"/>
              <a:t>MDC</a:t>
            </a:r>
            <a:r>
              <a:rPr lang="zh-CN" altLang="en-US" sz="1000" dirty="0"/>
              <a:t> 贯通）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/>
            </a:pPr>
            <a:r>
              <a:rPr lang="zh-CN" altLang="en-US" sz="1000" dirty="0"/>
              <a:t>📋 暴露 </a:t>
            </a:r>
            <a:r>
              <a:rPr lang="en-US" altLang="zh-CN" sz="1000" dirty="0"/>
              <a:t>Prometheus </a:t>
            </a:r>
            <a:r>
              <a:rPr lang="zh-CN" altLang="en-US" sz="1000" dirty="0"/>
              <a:t>指标抓取端点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/>
            </a:pPr>
            <a:r>
              <a:rPr lang="zh-CN" altLang="en-US" sz="1000" dirty="0"/>
              <a:t>📋 补充可复现部署脚本与样例证据包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/>
            </a:pPr>
            <a:r>
              <a:rPr lang="zh-CN" altLang="en-US" sz="1000" dirty="0"/>
              <a:t>📋 补充端到端集成测试（覆盖异常分支）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/>
            </a:pPr>
            <a:r>
              <a:rPr lang="zh-CN" altLang="en-US" sz="1000" dirty="0"/>
              <a:t>📋 整理 </a:t>
            </a:r>
            <a:r>
              <a:rPr lang="en-US" altLang="zh-CN" sz="1000" dirty="0"/>
              <a:t>Skill </a:t>
            </a:r>
            <a:r>
              <a:rPr lang="zh-CN" altLang="en-US" sz="1000" dirty="0"/>
              <a:t>开发者文档与贡献指南</a:t>
            </a:r>
          </a:p>
          <a:p>
            <a:pPr>
              <a:lnSpc>
                <a:spcPct val="100000"/>
              </a:lnSpc>
            </a:pPr>
            <a:endParaRPr lang="zh-CN" altLang="zh-CN" sz="1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416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A63F6-478F-0235-2568-E5A8D0788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18369-5A5D-A05A-E74B-744568517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4000" b="1" dirty="0">
                <a:solidFill>
                  <a:schemeClr val="accent4">
                    <a:lumMod val="75000"/>
                  </a:schemeClr>
                </a:solidFill>
              </a:rPr>
              <a:t>开源</a:t>
            </a:r>
            <a:r>
              <a:rPr lang="zh-CN" altLang="en-US" sz="4000" b="1" dirty="0">
                <a:solidFill>
                  <a:schemeClr val="accent4">
                    <a:lumMod val="75000"/>
                  </a:schemeClr>
                </a:solidFill>
              </a:rPr>
              <a:t>现状</a:t>
            </a:r>
            <a:endParaRPr lang="zh-CN" altLang="zh-CN" sz="4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B5D9CD-0EA9-FF54-BE53-9F625B28C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项目已在 Gitee 开源：</a:t>
            </a:r>
            <a:r>
              <a:rPr lang="zh-CN" altLang="zh-CN" u="sng" dirty="0">
                <a:hlinkClick r:id="rId2"/>
              </a:rPr>
              <a:t>https://gitee.com/RainyGao/DocSys</a:t>
            </a:r>
            <a:endParaRPr lang="zh-CN" altLang="zh-CN" dirty="0"/>
          </a:p>
          <a:p>
            <a:r>
              <a:rPr lang="zh-CN" altLang="zh-CN" dirty="0"/>
              <a:t>许可证：GPL 2.0</a:t>
            </a:r>
          </a:p>
          <a:p>
            <a:r>
              <a:rPr lang="zh-CN" altLang="zh-CN" dirty="0"/>
              <a:t>Agent 模块完整源码在 src/com/DocSystem/agent/ 下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84613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A41EB-F2AA-7F84-F09F-C2D214E5D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7E0AF6-D26F-CFC3-9FAE-DD5ADA8B0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>
                <a:solidFill>
                  <a:schemeClr val="accent4">
                    <a:lumMod val="75000"/>
                  </a:schemeClr>
                </a:solidFill>
              </a:rPr>
              <a:t>MXSDOC </a:t>
            </a:r>
            <a:r>
              <a:rPr lang="en-US" altLang="zh-CN" sz="4000" b="1" dirty="0">
                <a:solidFill>
                  <a:srgbClr val="7030A0"/>
                </a:solidFill>
              </a:rPr>
              <a:t>AI</a:t>
            </a:r>
            <a:endParaRPr lang="zh-CN" altLang="zh-CN" sz="2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91FDAD-1C53-3EF6-4D48-84C8EB61D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433" y="2141537"/>
            <a:ext cx="1046036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b="1" dirty="0">
                <a:solidFill>
                  <a:schemeClr val="accent4">
                    <a:lumMod val="75000"/>
                  </a:schemeClr>
                </a:solidFill>
              </a:rPr>
              <a:t>MxsDoc </a:t>
            </a:r>
            <a:r>
              <a:rPr lang="zh-CN" altLang="zh-CN" b="1" dirty="0">
                <a:solidFill>
                  <a:srgbClr val="7030A0"/>
                </a:solidFill>
              </a:rPr>
              <a:t>AI </a:t>
            </a:r>
            <a:r>
              <a:rPr lang="zh-CN" altLang="zh-CN" sz="2000" dirty="0">
                <a:solidFill>
                  <a:schemeClr val="bg2">
                    <a:lumMod val="50000"/>
                  </a:schemeClr>
                </a:solidFill>
              </a:rPr>
              <a:t>用一个真实运行的开源文档系统，证明多 Agent 能在企业生产环境里</a:t>
            </a:r>
            <a:r>
              <a:rPr lang="zh-CN" altLang="zh-CN" sz="2000" b="1" dirty="0">
                <a:solidFill>
                  <a:schemeClr val="bg2">
                    <a:lumMod val="50000"/>
                  </a:schemeClr>
                </a:solidFill>
              </a:rPr>
              <a:t>可信</a:t>
            </a:r>
            <a:r>
              <a:rPr lang="zh-CN" altLang="zh-CN" sz="2000" dirty="0">
                <a:solidFill>
                  <a:schemeClr val="bg2">
                    <a:lumMod val="50000"/>
                  </a:schemeClr>
                </a:solidFill>
              </a:rPr>
              <a:t>、</a:t>
            </a:r>
            <a:r>
              <a:rPr lang="zh-CN" altLang="zh-CN" sz="2000" b="1" dirty="0">
                <a:solidFill>
                  <a:schemeClr val="bg2">
                    <a:lumMod val="50000"/>
                  </a:schemeClr>
                </a:solidFill>
              </a:rPr>
              <a:t>可控</a:t>
            </a:r>
            <a:r>
              <a:rPr lang="zh-CN" altLang="zh-CN" sz="2000" dirty="0">
                <a:solidFill>
                  <a:schemeClr val="bg2">
                    <a:lumMod val="50000"/>
                  </a:schemeClr>
                </a:solidFill>
              </a:rPr>
              <a:t>、</a:t>
            </a:r>
            <a:r>
              <a:rPr lang="zh-CN" altLang="zh-CN" sz="2000" b="1" dirty="0">
                <a:solidFill>
                  <a:schemeClr val="bg2">
                    <a:lumMod val="50000"/>
                  </a:schemeClr>
                </a:solidFill>
              </a:rPr>
              <a:t>可观测</a:t>
            </a:r>
            <a:r>
              <a:rPr lang="zh-CN" altLang="zh-CN" sz="2000" dirty="0">
                <a:solidFill>
                  <a:schemeClr val="bg2">
                    <a:lumMod val="50000"/>
                  </a:schemeClr>
                </a:solidFill>
              </a:rPr>
              <a:t>地协同工作，是 249+ 测试护航、端到端验证通过的生产级基座。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AF7A8FA-0135-98EC-9CD0-EB5590DB6BA0}"/>
              </a:ext>
            </a:extLst>
          </p:cNvPr>
          <p:cNvSpPr txBox="1"/>
          <p:nvPr/>
        </p:nvSpPr>
        <p:spPr>
          <a:xfrm>
            <a:off x="838200" y="1331058"/>
            <a:ext cx="609702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200" dirty="0">
                <a:solidFill>
                  <a:schemeClr val="bg2">
                    <a:lumMod val="50000"/>
                  </a:schemeClr>
                </a:solidFill>
              </a:rPr>
              <a:t>从文档系统出发，通向通用多 Agent 协同基座。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17065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8C0753DB6F56C6A06BC24F53ACF02916487670C649B98103C3131F4E87222AD0" val="[{&quot;GradientColorId&quot;:&quot;&quot;,&quot;IsFree&quot;:true,&quot;IsGradient&quot;:false,&quot;ImagePath&quot;:&quot;&quot;,&quot;GradientColor&quot;:null,&quot;SimpleColor&quot;:&quot;#3B3838&quot;},{&quot;GradientColorId&quot;:&quot;&quot;,&quot;IsFree&quot;:true,&quot;IsGradient&quot;:false,&quot;ImagePath&quot;:&quot;&quot;,&quot;GradientColor&quot;:null,&quot;SimpleColor&quot;:&quot;#00B050&quot;}]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4617</Words>
  <Application>Microsoft Office PowerPoint</Application>
  <PresentationFormat>宽屏</PresentationFormat>
  <Paragraphs>270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Arial</vt:lpstr>
      <vt:lpstr>Calibri</vt:lpstr>
      <vt:lpstr>Lato</vt:lpstr>
      <vt:lpstr>WPS</vt:lpstr>
      <vt:lpstr>MXSDOC AI —— 基于 AgentTeams 的企业文档多 Agent 协同基座</vt:lpstr>
      <vt:lpstr>问题与场景</vt:lpstr>
      <vt:lpstr>核心价值主张</vt:lpstr>
      <vt:lpstr>AgentTeams 整体架构</vt:lpstr>
      <vt:lpstr>5 个 Agent 职能详表</vt:lpstr>
      <vt:lpstr>任务拆解与端到端闭环</vt:lpstr>
      <vt:lpstr>Skill 工程体系</vt:lpstr>
      <vt:lpstr>工具集成与 MCP</vt:lpstr>
      <vt:lpstr>结果验证与异常处理</vt:lpstr>
      <vt:lpstr>安全边界与风险控制</vt:lpstr>
      <vt:lpstr>可观测性</vt:lpstr>
      <vt:lpstr>自进化能力</vt:lpstr>
      <vt:lpstr>可行性与落地计划</vt:lpstr>
      <vt:lpstr>开源现状</vt:lpstr>
      <vt:lpstr>MXSDOC 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65205</dc:creator>
  <cp:lastModifiedBy>652055239@qq.com</cp:lastModifiedBy>
  <cp:revision>4</cp:revision>
  <dcterms:created xsi:type="dcterms:W3CDTF">2023-08-09T12:44:55Z</dcterms:created>
  <dcterms:modified xsi:type="dcterms:W3CDTF">2026-08-02T16:41:08Z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