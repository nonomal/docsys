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71" r:id="rId5"/>
    <p:sldId id="260" r:id="rId6"/>
    <p:sldId id="261" r:id="rId7"/>
    <p:sldId id="263" r:id="rId8"/>
    <p:sldId id="264" r:id="rId9"/>
    <p:sldId id="265" r:id="rId10"/>
    <p:sldId id="262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4B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gitee.com/RainyGao/DocSy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agent.md/" TargetMode="External"/><Relationship Id="rId2" Type="http://schemas.openxmlformats.org/officeDocument/2006/relationships/hyperlink" Target="http://skill.md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gentskills.io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inyGao-GitHub/DocSys" TargetMode="External"/><Relationship Id="rId2" Type="http://schemas.openxmlformats.org/officeDocument/2006/relationships/hyperlink" Target="https://gitee.com/RainyGao/DocSy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B0C60-DB86-5EF6-62B7-F86F4C22BA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1225816"/>
          </a:xfrm>
        </p:spPr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M</a:t>
            </a:r>
            <a:r>
              <a:rPr lang="en-US" altLang="zh-CN" b="1" dirty="0">
                <a:solidFill>
                  <a:schemeClr val="accent4">
                    <a:lumMod val="75000"/>
                  </a:schemeClr>
                </a:solidFill>
              </a:rPr>
              <a:t>XS</a:t>
            </a:r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D</a:t>
            </a:r>
            <a:r>
              <a:rPr lang="en-US" altLang="zh-CN" b="1" dirty="0">
                <a:solidFill>
                  <a:schemeClr val="accent4">
                    <a:lumMod val="75000"/>
                  </a:schemeClr>
                </a:solidFill>
              </a:rPr>
              <a:t>OC</a:t>
            </a:r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zh-CN" altLang="zh-CN" b="1" dirty="0">
                <a:solidFill>
                  <a:srgbClr val="934BC9"/>
                </a:solidFill>
              </a:rPr>
              <a:t>AI</a:t>
            </a:r>
            <a:br>
              <a:rPr lang="en-US" altLang="zh-CN" dirty="0"/>
            </a:br>
            <a:r>
              <a:rPr lang="zh-CN" altLang="zh-CN" sz="2200" dirty="0">
                <a:solidFill>
                  <a:schemeClr val="bg2">
                    <a:lumMod val="25000"/>
                  </a:schemeClr>
                </a:solidFill>
              </a:rPr>
              <a:t>—— 基于 AgentTeams 的企业文档多 Agent 协同基座</a:t>
            </a:r>
            <a:endParaRPr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250F4DC-98DB-0465-6475-DCFD3A72E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41069" y="2914408"/>
            <a:ext cx="9144000" cy="3413239"/>
          </a:xfrm>
        </p:spPr>
        <p:txBody>
          <a:bodyPr>
            <a:normAutofit/>
          </a:bodyPr>
          <a:lstStyle/>
          <a:p>
            <a:endParaRPr lang="en-US" altLang="zh-CN" sz="2000" dirty="0">
              <a:solidFill>
                <a:srgbClr val="00B050"/>
              </a:solidFill>
            </a:endParaRPr>
          </a:p>
          <a:p>
            <a:endParaRPr lang="en-US" altLang="zh-CN" sz="2000" dirty="0">
              <a:solidFill>
                <a:srgbClr val="00B050"/>
              </a:solidFill>
            </a:endParaRPr>
          </a:p>
          <a:p>
            <a:pPr lvl="0" algn="l"/>
            <a:r>
              <a:rPr lang="en-US" altLang="zh-CN" sz="1800" dirty="0">
                <a:solidFill>
                  <a:schemeClr val="bg2">
                    <a:lumMod val="50000"/>
                  </a:schemeClr>
                </a:solidFill>
              </a:rPr>
              <a:t>                     </a:t>
            </a:r>
            <a:r>
              <a:rPr lang="zh-CN" altLang="zh-CN" sz="1800" b="1" dirty="0">
                <a:solidFill>
                  <a:schemeClr val="bg2">
                    <a:lumMod val="50000"/>
                  </a:schemeClr>
                </a:solidFill>
              </a:rPr>
              <a:t>赛道：</a:t>
            </a:r>
            <a:r>
              <a:rPr lang="zh-CN" altLang="zh-CN" sz="1800" dirty="0">
                <a:solidFill>
                  <a:schemeClr val="bg2">
                    <a:lumMod val="50000"/>
                  </a:schemeClr>
                </a:solidFill>
              </a:rPr>
              <a:t>新智基座（Agent Infra）</a:t>
            </a:r>
          </a:p>
          <a:p>
            <a:pPr lvl="0" algn="l"/>
            <a:r>
              <a:rPr lang="en-US" altLang="zh-CN" sz="1800" dirty="0">
                <a:solidFill>
                  <a:schemeClr val="bg2">
                    <a:lumMod val="50000"/>
                  </a:schemeClr>
                </a:solidFill>
              </a:rPr>
              <a:t>                     </a:t>
            </a:r>
            <a:r>
              <a:rPr lang="zh-CN" altLang="zh-CN" sz="1800" b="1" dirty="0">
                <a:solidFill>
                  <a:schemeClr val="bg2">
                    <a:lumMod val="50000"/>
                  </a:schemeClr>
                </a:solidFill>
              </a:rPr>
              <a:t>开源：</a:t>
            </a:r>
            <a:r>
              <a:rPr lang="zh-CN" altLang="zh-CN" sz="1800" u="sng" dirty="0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gitee.com/RainyGao/DocSys（GPL</a:t>
            </a:r>
            <a:r>
              <a:rPr lang="zh-CN" altLang="zh-CN" sz="1800" u="sng" dirty="0">
                <a:solidFill>
                  <a:schemeClr val="accent1"/>
                </a:solidFill>
              </a:rPr>
              <a:t> 2.0）</a:t>
            </a:r>
          </a:p>
          <a:p>
            <a:pPr lvl="0" algn="l"/>
            <a:r>
              <a:rPr lang="en-US" altLang="zh-CN" sz="1800" dirty="0">
                <a:solidFill>
                  <a:schemeClr val="bg2">
                    <a:lumMod val="50000"/>
                  </a:schemeClr>
                </a:solidFill>
              </a:rPr>
              <a:t>                     </a:t>
            </a:r>
            <a:r>
              <a:rPr lang="zh-CN" altLang="zh-CN" sz="1800" b="1" dirty="0">
                <a:solidFill>
                  <a:schemeClr val="bg2">
                    <a:lumMod val="50000"/>
                  </a:schemeClr>
                </a:solidFill>
              </a:rPr>
              <a:t>技术栈：</a:t>
            </a:r>
            <a:r>
              <a:rPr lang="zh-CN" altLang="zh-CN" sz="1800" dirty="0">
                <a:solidFill>
                  <a:schemeClr val="bg2">
                    <a:lumMod val="50000"/>
                  </a:schemeClr>
                </a:solidFill>
              </a:rPr>
              <a:t>Java 8 + Spring MVC + MyBatis + OkHttp + Micrometer + Bucket4j</a:t>
            </a:r>
          </a:p>
          <a:p>
            <a:endParaRPr lang="en-US" altLang="zh-CN" sz="2000" dirty="0">
              <a:solidFill>
                <a:srgbClr val="00B050"/>
              </a:solidFill>
            </a:endParaRPr>
          </a:p>
          <a:p>
            <a:endParaRPr lang="en-US" altLang="zh-CN" sz="2000" dirty="0">
              <a:solidFill>
                <a:srgbClr val="00B050"/>
              </a:solidFill>
            </a:endParaRPr>
          </a:p>
          <a:p>
            <a:endParaRPr lang="zh-CN" altLang="en-US" sz="2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212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6BA5C0-86FB-D979-64CA-2E89C3C3A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sz="4000" b="1" dirty="0">
                <a:solidFill>
                  <a:schemeClr val="accent4">
                    <a:lumMod val="75000"/>
                  </a:schemeClr>
                </a:solidFill>
              </a:rPr>
              <a:t>问题与场景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93FD6E-FF57-FF96-01BB-742A4FBCA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zh-CN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行业痛点</a:t>
            </a:r>
            <a:r>
              <a:rPr lang="zh-CN" altLang="zh-CN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：</a:t>
            </a:r>
          </a:p>
          <a:p>
            <a:pPr lvl="0"/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单 Agent 实验室能跑通 Demo，一进真实企业系统就"水土不服"——</a:t>
            </a:r>
            <a:r>
              <a:rPr lang="zh-CN" altLang="zh-CN" sz="1300" b="1" dirty="0">
                <a:solidFill>
                  <a:schemeClr val="accent6">
                    <a:lumMod val="75000"/>
                  </a:schemeClr>
                </a:solidFill>
              </a:rPr>
              <a:t>缺权限隔离</a:t>
            </a:r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、</a:t>
            </a:r>
            <a:r>
              <a:rPr lang="zh-CN" altLang="zh-CN" sz="1300" b="1" dirty="0">
                <a:solidFill>
                  <a:schemeClr val="accent6">
                    <a:lumMod val="75000"/>
                  </a:schemeClr>
                </a:solidFill>
              </a:rPr>
              <a:t>缺操作审计</a:t>
            </a:r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、</a:t>
            </a:r>
            <a:r>
              <a:rPr lang="zh-CN" altLang="zh-CN" sz="1300" b="1" dirty="0">
                <a:solidFill>
                  <a:schemeClr val="accent6">
                    <a:lumMod val="75000"/>
                  </a:schemeClr>
                </a:solidFill>
              </a:rPr>
              <a:t>缺稳定接入</a:t>
            </a:r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、</a:t>
            </a:r>
            <a:r>
              <a:rPr lang="zh-CN" altLang="zh-CN" sz="1300" b="1" dirty="0">
                <a:solidFill>
                  <a:schemeClr val="accent6">
                    <a:lumMod val="75000"/>
                  </a:schemeClr>
                </a:solidFill>
              </a:rPr>
              <a:t>缺可观测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。</a:t>
            </a:r>
          </a:p>
          <a:p>
            <a:pPr lvl="0"/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企业文档管理场景中，用户需要"查文档 / 建仓库 / 上传文件 / 全文检索 / 知识问答"，但操作必须</a:t>
            </a:r>
            <a:r>
              <a:rPr lang="zh-CN" altLang="zh-CN" sz="1300" b="1" dirty="0">
                <a:solidFill>
                  <a:schemeClr val="accent4">
                    <a:lumMod val="75000"/>
                  </a:schemeClr>
                </a:solidFill>
              </a:rPr>
              <a:t>严格按登录用户权限执行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，写操作要可确认、可审计、可回溯。</a:t>
            </a:r>
            <a:endParaRPr lang="en-US" altLang="zh-CN" sz="1300" dirty="0">
              <a:solidFill>
                <a:schemeClr val="bg2">
                  <a:lumMod val="50000"/>
                </a:schemeClr>
              </a:solidFill>
            </a:endParaRPr>
          </a:p>
          <a:p>
            <a:pPr lvl="0"/>
            <a:r>
              <a:rPr lang="en-US" altLang="zh-CN" sz="1300" dirty="0">
                <a:solidFill>
                  <a:schemeClr val="bg2">
                    <a:lumMod val="50000"/>
                  </a:schemeClr>
                </a:solidFill>
              </a:rPr>
              <a:t>AI</a:t>
            </a:r>
            <a:r>
              <a:rPr lang="zh-CN" altLang="en-US" sz="1300" dirty="0">
                <a:solidFill>
                  <a:schemeClr val="bg2">
                    <a:lumMod val="50000"/>
                  </a:schemeClr>
                </a:solidFill>
              </a:rPr>
              <a:t>无法直接编辑</a:t>
            </a:r>
            <a:r>
              <a:rPr lang="en-US" altLang="zh-CN" sz="1300" dirty="0">
                <a:solidFill>
                  <a:schemeClr val="bg2">
                    <a:lumMod val="50000"/>
                  </a:schemeClr>
                </a:solidFill>
              </a:rPr>
              <a:t>Office</a:t>
            </a:r>
            <a:r>
              <a:rPr lang="zh-CN" altLang="en-US" sz="1300" dirty="0">
                <a:solidFill>
                  <a:schemeClr val="bg2">
                    <a:lumMod val="50000"/>
                  </a:schemeClr>
                </a:solidFill>
              </a:rPr>
              <a:t>文件（</a:t>
            </a:r>
            <a:r>
              <a:rPr lang="en-US" altLang="zh-CN" sz="1300" dirty="0">
                <a:solidFill>
                  <a:schemeClr val="bg2">
                    <a:lumMod val="50000"/>
                  </a:schemeClr>
                </a:solidFill>
              </a:rPr>
              <a:t>Word / PPT / Excel</a:t>
            </a:r>
            <a:r>
              <a:rPr lang="zh-CN" altLang="en-US" sz="1300" dirty="0">
                <a:solidFill>
                  <a:schemeClr val="bg2">
                    <a:lumMod val="50000"/>
                  </a:schemeClr>
                </a:solidFill>
              </a:rPr>
              <a:t>）</a:t>
            </a:r>
            <a:endParaRPr lang="en-US" altLang="zh-CN" sz="1300" dirty="0">
              <a:solidFill>
                <a:schemeClr val="bg2">
                  <a:lumMod val="50000"/>
                </a:schemeClr>
              </a:solidFill>
            </a:endParaRPr>
          </a:p>
          <a:p>
            <a:pPr lvl="0"/>
            <a:endParaRPr lang="zh-CN" altLang="zh-CN" sz="13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具体场景：</a:t>
            </a:r>
          </a:p>
          <a:p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用户输入自然语言 → Agent 自动识别意图 → 调用对应工具 → 返回结果</a:t>
            </a:r>
          </a:p>
          <a:p>
            <a:pPr lvl="1"/>
            <a:r>
              <a:rPr lang="zh-CN" altLang="zh-CN" sz="900" dirty="0">
                <a:solidFill>
                  <a:schemeClr val="bg2">
                    <a:lumMod val="50000"/>
                  </a:schemeClr>
                </a:solidFill>
              </a:rPr>
              <a:t>例如：“列出我的仓库” → list_repos → 返回仓库列表</a:t>
            </a:r>
          </a:p>
          <a:p>
            <a:pPr lvl="1"/>
            <a:r>
              <a:rPr lang="zh-CN" altLang="zh-CN" sz="900" dirty="0">
                <a:solidFill>
                  <a:schemeClr val="bg2">
                    <a:lumMod val="50000"/>
                  </a:schemeClr>
                </a:solidFill>
              </a:rPr>
              <a:t>例如：“在 DocSys 仓库中搜索 Kafka 相关文档并读取第一篇” → search_docs → get_doc → 总结内容（LLM 自主 3 步串联，实测通过）</a:t>
            </a:r>
            <a:endParaRPr lang="en-US" altLang="zh-CN" sz="9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sz="1300" dirty="0">
                <a:solidFill>
                  <a:schemeClr val="bg2">
                    <a:lumMod val="50000"/>
                  </a:schemeClr>
                </a:solidFill>
              </a:rPr>
              <a:t>AI</a:t>
            </a:r>
            <a:r>
              <a:rPr lang="zh-CN" altLang="en-US" sz="1300" dirty="0">
                <a:solidFill>
                  <a:schemeClr val="bg2">
                    <a:lumMod val="50000"/>
                  </a:schemeClr>
                </a:solidFill>
              </a:rPr>
              <a:t>直接参与</a:t>
            </a:r>
            <a:r>
              <a:rPr lang="en-US" altLang="zh-CN" sz="1300" dirty="0">
                <a:solidFill>
                  <a:schemeClr val="bg2">
                    <a:lumMod val="50000"/>
                  </a:schemeClr>
                </a:solidFill>
              </a:rPr>
              <a:t>Office</a:t>
            </a:r>
            <a:r>
              <a:rPr lang="zh-CN" altLang="en-US" sz="1300" dirty="0">
                <a:solidFill>
                  <a:schemeClr val="bg2">
                    <a:lumMod val="50000"/>
                  </a:schemeClr>
                </a:solidFill>
              </a:rPr>
              <a:t>文件的协同编辑</a:t>
            </a:r>
            <a:endParaRPr lang="zh-CN" altLang="zh-CN" sz="9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r>
              <a:rPr lang="zh-CN" altLang="zh-CN" dirty="0">
                <a:solidFill>
                  <a:schemeClr val="accent4">
                    <a:lumMod val="75000"/>
                  </a:schemeClr>
                </a:solidFill>
              </a:rPr>
              <a:t>真正的挑战不是让一个 Agent 更聪明，而是让一组 Agent 在真实企业系统里</a:t>
            </a:r>
            <a:r>
              <a:rPr lang="zh-CN" altLang="zh-CN" b="1" dirty="0">
                <a:solidFill>
                  <a:schemeClr val="accent6">
                    <a:lumMod val="75000"/>
                  </a:schemeClr>
                </a:solidFill>
              </a:rPr>
              <a:t>可信、可控、可观测</a:t>
            </a:r>
            <a:r>
              <a:rPr lang="zh-CN" altLang="zh-CN" dirty="0">
                <a:solidFill>
                  <a:schemeClr val="accent4">
                    <a:lumMod val="75000"/>
                  </a:schemeClr>
                </a:solidFill>
              </a:rPr>
              <a:t>地协同工作。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7539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EB7A4-83CE-62F9-C479-777FCCBBB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5D051-BFA1-6A85-A699-D47ADEC1A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sz="4000" b="1" dirty="0">
                <a:solidFill>
                  <a:schemeClr val="accent4">
                    <a:lumMod val="75000"/>
                  </a:schemeClr>
                </a:solidFill>
              </a:rPr>
              <a:t>核心价值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8B7415-AB9E-DD47-80F1-F520E710C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真实系统：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构建在 MxsDoc 开源文档系统之上，非模拟场景</a:t>
            </a:r>
          </a:p>
          <a:p>
            <a:pPr>
              <a:lnSpc>
                <a:spcPct val="10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真实权限：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Agent 与 MxsDoc 共享登录会话，以当前用户真实权限执行</a:t>
            </a:r>
          </a:p>
          <a:p>
            <a:pPr>
              <a:lnSpc>
                <a:spcPct val="10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真实审计：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写操作全程留痕，SHA-256 脱敏，SSE 二次确认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zh-CN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lvl="0">
              <a:lnSpc>
                <a:spcPct val="11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可信：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权限隔离 + 写操作审批 + 限流保护</a:t>
            </a:r>
          </a:p>
          <a:p>
            <a:pPr lvl="0">
              <a:lnSpc>
                <a:spcPct val="11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可控：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五态任务状态机 + 超时恢复 + 失败重试上限</a:t>
            </a:r>
          </a:p>
          <a:p>
            <a:pPr lvl="0">
              <a:lnSpc>
                <a:spcPct val="11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可观测：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Micrometer 指标 + 健康探针 + MDC 日志 + Step 审计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pPr lvl="0">
              <a:lnSpc>
                <a:spcPct val="110000"/>
              </a:lnSpc>
            </a:pPr>
            <a:endParaRPr lang="en-US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pPr lvl="0">
              <a:lnSpc>
                <a:spcPct val="11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复用价值：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任何企业系统均可按此模式（可插拔 Skill 执行器 + </a:t>
            </a:r>
            <a:r>
              <a:rPr lang="zh-CN" altLang="zh-CN" sz="1400" u="sng" dirty="0">
                <a:solidFill>
                  <a:schemeClr val="accent1"/>
                </a:solidFill>
              </a:rPr>
              <a:t>SKILL.md 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标准 + 审计/限流横切）接入多 Agent 能力。</a:t>
            </a:r>
          </a:p>
        </p:txBody>
      </p:sp>
    </p:spTree>
    <p:extLst>
      <p:ext uri="{BB962C8B-B14F-4D97-AF65-F5344CB8AC3E}">
        <p14:creationId xmlns:p14="http://schemas.microsoft.com/office/powerpoint/2010/main" val="2425062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3B5F6-F4F6-FDE6-7519-73E310AF7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FA1C8F-EB95-08A9-2EE3-6C0442A5A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4000" b="1" dirty="0">
                <a:solidFill>
                  <a:schemeClr val="accent4">
                    <a:lumMod val="75000"/>
                  </a:schemeClr>
                </a:solidFill>
              </a:rPr>
              <a:t>系统</a:t>
            </a:r>
            <a:r>
              <a:rPr lang="zh-CN" altLang="zh-CN" sz="4000" b="1" dirty="0">
                <a:solidFill>
                  <a:schemeClr val="accent4">
                    <a:lumMod val="75000"/>
                  </a:schemeClr>
                </a:solidFill>
              </a:rPr>
              <a:t>架构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B23A61-4CED-7FF6-3DA2-7F35CFEBDCF6}"/>
              </a:ext>
            </a:extLst>
          </p:cNvPr>
          <p:cNvSpPr/>
          <p:nvPr/>
        </p:nvSpPr>
        <p:spPr>
          <a:xfrm>
            <a:off x="613691" y="2000682"/>
            <a:ext cx="10432752" cy="47557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13ABC55-BA3C-1D73-E16D-E61688FEC683}"/>
              </a:ext>
            </a:extLst>
          </p:cNvPr>
          <p:cNvSpPr/>
          <p:nvPr/>
        </p:nvSpPr>
        <p:spPr>
          <a:xfrm>
            <a:off x="4274061" y="2037910"/>
            <a:ext cx="2971290" cy="236041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用户自然语言请求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A9B53F2-71F6-6EDA-152A-A904A69AE6A2}"/>
              </a:ext>
            </a:extLst>
          </p:cNvPr>
          <p:cNvSpPr/>
          <p:nvPr/>
        </p:nvSpPr>
        <p:spPr>
          <a:xfrm>
            <a:off x="833852" y="2460318"/>
            <a:ext cx="9863938" cy="48439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bg1"/>
                </a:solidFill>
              </a:rPr>
              <a:t>编排 </a:t>
            </a:r>
            <a:r>
              <a:rPr lang="zh-CN" altLang="zh-CN" b="1" dirty="0">
                <a:solidFill>
                  <a:schemeClr val="accent2">
                    <a:lumMod val="75000"/>
                  </a:schemeClr>
                </a:solidFill>
              </a:rPr>
              <a:t>Agent</a:t>
            </a:r>
            <a:r>
              <a:rPr lang="zh-CN" altLang="zh-CN" b="1" dirty="0">
                <a:solidFill>
                  <a:srgbClr val="FF0000"/>
                </a:solidFill>
              </a:rPr>
              <a:t> </a:t>
            </a:r>
            <a:r>
              <a:rPr lang="zh-CN" altLang="zh-CN" b="1" dirty="0">
                <a:solidFill>
                  <a:schemeClr val="bg1"/>
                </a:solidFill>
              </a:rPr>
              <a:t>(MainAgent)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zh-CN" sz="1050" dirty="0">
                <a:solidFill>
                  <a:schemeClr val="bg1"/>
                </a:solidFill>
              </a:rPr>
              <a:t>意图识别 → 任务拆解 → 分派 → 聚合 → 生命周期收口 </a:t>
            </a:r>
            <a:endParaRPr lang="zh-CN" altLang="en-US" sz="1050" dirty="0">
              <a:solidFill>
                <a:schemeClr val="bg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FA401D-3A54-8D7C-576D-69EC6326138B}"/>
              </a:ext>
            </a:extLst>
          </p:cNvPr>
          <p:cNvSpPr txBox="1"/>
          <p:nvPr/>
        </p:nvSpPr>
        <p:spPr>
          <a:xfrm>
            <a:off x="534039" y="1641826"/>
            <a:ext cx="92985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dirty="0">
                <a:solidFill>
                  <a:schemeClr val="accent5"/>
                </a:solidFill>
              </a:rPr>
              <a:t>5 个职能 Agent 协同工作 </a:t>
            </a:r>
            <a:r>
              <a:rPr lang="en-US" altLang="zh-CN" sz="2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|</a:t>
            </a:r>
            <a:r>
              <a:rPr lang="zh-CN" altLang="zh-CN" sz="2000" dirty="0">
                <a:solidFill>
                  <a:schemeClr val="accent5"/>
                </a:solidFill>
              </a:rPr>
              <a:t> ToolUseLoop 推理引擎驱动 </a:t>
            </a:r>
            <a:r>
              <a:rPr lang="en-US" altLang="zh-CN" sz="2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|</a:t>
            </a:r>
            <a:r>
              <a:rPr lang="zh-CN" altLang="zh-CN" sz="2000" dirty="0">
                <a:solidFill>
                  <a:schemeClr val="accent5"/>
                </a:solidFill>
              </a:rPr>
              <a:t> 端到端任务闭环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3C63FB2-F359-EC28-C367-43369ECD64E7}"/>
              </a:ext>
            </a:extLst>
          </p:cNvPr>
          <p:cNvSpPr/>
          <p:nvPr/>
        </p:nvSpPr>
        <p:spPr>
          <a:xfrm>
            <a:off x="843257" y="3294378"/>
            <a:ext cx="1406121" cy="5996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推荐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r>
              <a:rPr lang="zh-CN" altLang="zh-CN" b="1" dirty="0">
                <a:solidFill>
                  <a:schemeClr val="accent2">
                    <a:lumMod val="75000"/>
                  </a:schemeClr>
                </a:solidFill>
              </a:rPr>
              <a:t>Agent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zh-CN" sz="1050" dirty="0">
                <a:solidFill>
                  <a:schemeClr val="bg1"/>
                </a:solidFill>
              </a:rPr>
              <a:t>协同过滤</a:t>
            </a:r>
            <a:endParaRPr lang="zh-CN" altLang="en-US" sz="1050" dirty="0">
              <a:solidFill>
                <a:schemeClr val="bg1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60A2100-91AC-6613-80BA-077F60D3D20D}"/>
              </a:ext>
            </a:extLst>
          </p:cNvPr>
          <p:cNvSpPr/>
          <p:nvPr/>
        </p:nvSpPr>
        <p:spPr>
          <a:xfrm>
            <a:off x="2454956" y="3294378"/>
            <a:ext cx="1406121" cy="5996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进化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r>
              <a:rPr lang="zh-CN" altLang="zh-CN" b="1" dirty="0">
                <a:solidFill>
                  <a:schemeClr val="accent2">
                    <a:lumMod val="75000"/>
                  </a:schemeClr>
                </a:solidFill>
              </a:rPr>
              <a:t>Agent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en-US" sz="1050" dirty="0">
                <a:solidFill>
                  <a:schemeClr val="bg1"/>
                </a:solidFill>
              </a:rPr>
              <a:t>技术结晶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B14D89D-E9CF-B50E-E85E-3B4722D3BB1A}"/>
              </a:ext>
            </a:extLst>
          </p:cNvPr>
          <p:cNvSpPr/>
          <p:nvPr/>
        </p:nvSpPr>
        <p:spPr>
          <a:xfrm>
            <a:off x="4061014" y="3288028"/>
            <a:ext cx="1554261" cy="5996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反思 </a:t>
            </a:r>
            <a:r>
              <a:rPr lang="zh-CN" altLang="zh-CN" b="1" dirty="0">
                <a:solidFill>
                  <a:schemeClr val="accent2">
                    <a:lumMod val="75000"/>
                  </a:schemeClr>
                </a:solidFill>
              </a:rPr>
              <a:t>Agent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en-US" sz="1050" dirty="0">
                <a:solidFill>
                  <a:schemeClr val="bg1"/>
                </a:solidFill>
              </a:rPr>
              <a:t>失败重划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7B42232-48EA-5978-CE28-71A46DA7F6EA}"/>
              </a:ext>
            </a:extLst>
          </p:cNvPr>
          <p:cNvSpPr/>
          <p:nvPr/>
        </p:nvSpPr>
        <p:spPr>
          <a:xfrm>
            <a:off x="5830067" y="3301020"/>
            <a:ext cx="4660175" cy="5996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执行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r>
              <a:rPr lang="zh-CN" altLang="zh-CN" b="1" dirty="0">
                <a:solidFill>
                  <a:schemeClr val="accent2">
                    <a:lumMod val="75000"/>
                  </a:schemeClr>
                </a:solidFill>
              </a:rPr>
              <a:t>Agent</a:t>
            </a:r>
            <a:r>
              <a:rPr lang="zh-CN" altLang="en-US" b="1" dirty="0">
                <a:solidFill>
                  <a:schemeClr val="bg1"/>
                </a:solidFill>
              </a:rPr>
              <a:t>（</a:t>
            </a:r>
            <a:r>
              <a:rPr lang="en-US" altLang="zh-CN" b="1" dirty="0" err="1">
                <a:solidFill>
                  <a:schemeClr val="bg1"/>
                </a:solidFill>
              </a:rPr>
              <a:t>SubAgent</a:t>
            </a:r>
            <a:r>
              <a:rPr lang="zh-CN" altLang="en-US" b="1" dirty="0">
                <a:solidFill>
                  <a:schemeClr val="bg1"/>
                </a:solidFill>
              </a:rPr>
              <a:t>池）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en-US" sz="1050" dirty="0">
                <a:solidFill>
                  <a:schemeClr val="bg1"/>
                </a:solidFill>
              </a:rPr>
              <a:t>工具调用执行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BED67CF-E416-DCFE-F295-69739368C6E9}"/>
              </a:ext>
            </a:extLst>
          </p:cNvPr>
          <p:cNvSpPr/>
          <p:nvPr/>
        </p:nvSpPr>
        <p:spPr>
          <a:xfrm>
            <a:off x="5833305" y="4069294"/>
            <a:ext cx="4655827" cy="599672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bg1"/>
                </a:solidFill>
              </a:rPr>
              <a:t>ToolUseLoop 推理引擎 (REPL)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zh-CN" sz="1100" dirty="0">
                <a:solidFill>
                  <a:schemeClr val="bg1"/>
                </a:solidFill>
              </a:rPr>
              <a:t> LLM自主决策→调工具→观察→推理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 </a:t>
            </a:r>
            <a:endParaRPr lang="zh-CN" altLang="en-US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827ED22-7FB3-41B9-C493-7A75FA622E35}"/>
              </a:ext>
            </a:extLst>
          </p:cNvPr>
          <p:cNvSpPr/>
          <p:nvPr/>
        </p:nvSpPr>
        <p:spPr>
          <a:xfrm>
            <a:off x="4496735" y="5048963"/>
            <a:ext cx="1630354" cy="599672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内部技能</a:t>
            </a:r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endParaRPr lang="en-US" altLang="zh-CN" b="1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r>
              <a:rPr lang="en-US" altLang="zh-CN" sz="1100" dirty="0">
                <a:solidFill>
                  <a:schemeClr val="bg1"/>
                </a:solidFill>
              </a:rPr>
              <a:t>Java</a:t>
            </a:r>
            <a:r>
              <a:rPr lang="zh-CN" altLang="en-US" sz="1100" dirty="0">
                <a:solidFill>
                  <a:schemeClr val="bg1"/>
                </a:solidFill>
              </a:rPr>
              <a:t>直接调用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D406DF4-8CA9-4AD6-6B6B-59C2AFDCEDD6}"/>
              </a:ext>
            </a:extLst>
          </p:cNvPr>
          <p:cNvSpPr/>
          <p:nvPr/>
        </p:nvSpPr>
        <p:spPr>
          <a:xfrm>
            <a:off x="6724927" y="5042355"/>
            <a:ext cx="1630354" cy="599672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外部技能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en-US" altLang="zh-CN" sz="1100" dirty="0">
                <a:solidFill>
                  <a:schemeClr val="bg1"/>
                </a:solidFill>
              </a:rPr>
              <a:t>Python / CLI</a:t>
            </a:r>
            <a:endParaRPr lang="zh-CN" altLang="en-US" sz="1100" dirty="0">
              <a:solidFill>
                <a:schemeClr val="bg1"/>
              </a:solidFill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45183094-61B2-7E40-4052-387C16FF78D9}"/>
              </a:ext>
            </a:extLst>
          </p:cNvPr>
          <p:cNvSpPr/>
          <p:nvPr/>
        </p:nvSpPr>
        <p:spPr>
          <a:xfrm>
            <a:off x="8778741" y="5046545"/>
            <a:ext cx="1630354" cy="599672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bg1"/>
                </a:solidFill>
              </a:rPr>
              <a:t>LLM</a:t>
            </a:r>
            <a:r>
              <a:rPr lang="zh-CN" altLang="en-US" b="1" dirty="0">
                <a:solidFill>
                  <a:schemeClr val="bg1"/>
                </a:solidFill>
              </a:rPr>
              <a:t>对话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en-US" sz="1100" dirty="0">
                <a:solidFill>
                  <a:schemeClr val="bg1"/>
                </a:solidFill>
              </a:rPr>
              <a:t>多模型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F95F35E-993B-E66F-2081-CF3ACCA55917}"/>
              </a:ext>
            </a:extLst>
          </p:cNvPr>
          <p:cNvSpPr/>
          <p:nvPr/>
        </p:nvSpPr>
        <p:spPr>
          <a:xfrm>
            <a:off x="833852" y="5902684"/>
            <a:ext cx="9807555" cy="653455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bg1"/>
                </a:solidFill>
              </a:rPr>
              <a:t>MxsDoc 企业文档系统底座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zh-CN" sz="1100" dirty="0">
                <a:solidFill>
                  <a:schemeClr val="bg1"/>
                </a:solidFill>
              </a:rPr>
              <a:t>用户·仓库·文档·搜索·RAG·备份 40+ 接口 </a:t>
            </a:r>
            <a:r>
              <a:rPr lang="en-US" altLang="zh-CN" sz="1100" dirty="0">
                <a:solidFill>
                  <a:schemeClr val="accent2"/>
                </a:solidFill>
              </a:rPr>
              <a:t> </a:t>
            </a:r>
            <a:r>
              <a:rPr lang="zh-CN" altLang="zh-CN" sz="1100" dirty="0">
                <a:solidFill>
                  <a:schemeClr val="accent5"/>
                </a:solidFill>
              </a:rPr>
              <a:t>│</a:t>
            </a:r>
            <a:r>
              <a:rPr lang="zh-CN" altLang="zh-CN" sz="1100" dirty="0">
                <a:solidFill>
                  <a:schemeClr val="accent2"/>
                </a:solidFill>
              </a:rPr>
              <a:t> </a:t>
            </a:r>
            <a:r>
              <a:rPr lang="zh-CN" altLang="zh-CN" sz="1100" dirty="0">
                <a:solidFill>
                  <a:schemeClr val="bg1"/>
                </a:solidFill>
              </a:rPr>
              <a:t>共享会话 · 真实权限 · 写操作审计</a:t>
            </a:r>
            <a:endParaRPr lang="zh-CN" altLang="en-US" sz="1100" dirty="0">
              <a:solidFill>
                <a:schemeClr val="bg1"/>
              </a:solidFill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81B1FEF-821C-0DC3-8E36-05C0006D3CB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5759706" y="2273951"/>
            <a:ext cx="6115" cy="18636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C096512-9132-87C7-57D7-327CAD61053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3481237" y="1009794"/>
            <a:ext cx="349666" cy="4219503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97861B03-5450-9458-AB25-14812C7E0F0C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784834" y="1925699"/>
            <a:ext cx="356308" cy="2394334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C230950C-DE93-7EC4-636A-E2435769C538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4287086" y="1815643"/>
            <a:ext cx="349666" cy="2607804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00D749CF-C274-0054-2ACD-0E5C9F0D1DE1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 rot="5400000">
            <a:off x="5130325" y="2652532"/>
            <a:ext cx="343316" cy="927676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03C7C774-7BD3-14EB-7B28-528B89100A09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8076386" y="3984461"/>
            <a:ext cx="168602" cy="1064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E62E6834-EAAF-FEF3-5299-F395BAE4475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6546568" y="3434311"/>
            <a:ext cx="379997" cy="2849307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8931BA59-A752-11A5-C488-E02F4BE87B93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rot="5400000">
            <a:off x="7663968" y="4545103"/>
            <a:ext cx="373389" cy="621115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F7A96E5B-6763-DE6D-1FE0-8E911721DC86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rot="16200000" flipH="1">
            <a:off x="8688779" y="4141405"/>
            <a:ext cx="377579" cy="1432699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88D2C826-C0DE-604A-D9E1-5DC2998C395E}"/>
              </a:ext>
            </a:extLst>
          </p:cNvPr>
          <p:cNvCxnSpPr>
            <a:stCxn id="15" idx="2"/>
          </p:cNvCxnSpPr>
          <p:nvPr/>
        </p:nvCxnSpPr>
        <p:spPr>
          <a:xfrm>
            <a:off x="5311912" y="5648635"/>
            <a:ext cx="0" cy="2603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8F7EB5E-9674-1E48-24EF-6303E52EA294}"/>
              </a:ext>
            </a:extLst>
          </p:cNvPr>
          <p:cNvCxnSpPr>
            <a:stCxn id="16" idx="2"/>
          </p:cNvCxnSpPr>
          <p:nvPr/>
        </p:nvCxnSpPr>
        <p:spPr>
          <a:xfrm flipH="1">
            <a:off x="7535810" y="5642027"/>
            <a:ext cx="4294" cy="26065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40BFD1DF-ED6B-388A-6F8C-5B93407DD9CC}"/>
              </a:ext>
            </a:extLst>
          </p:cNvPr>
          <p:cNvCxnSpPr>
            <a:stCxn id="17" idx="2"/>
          </p:cNvCxnSpPr>
          <p:nvPr/>
        </p:nvCxnSpPr>
        <p:spPr>
          <a:xfrm>
            <a:off x="9593918" y="5646217"/>
            <a:ext cx="1" cy="25646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87416E6-ED9E-8D3B-10D7-008E2B504426}"/>
              </a:ext>
            </a:extLst>
          </p:cNvPr>
          <p:cNvSpPr txBox="1"/>
          <p:nvPr/>
        </p:nvSpPr>
        <p:spPr>
          <a:xfrm>
            <a:off x="729880" y="4574822"/>
            <a:ext cx="339616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100" b="1" dirty="0">
                <a:solidFill>
                  <a:schemeClr val="bg2">
                    <a:lumMod val="50000"/>
                  </a:schemeClr>
                </a:solidFill>
              </a:rPr>
              <a:t>横切能力：</a:t>
            </a:r>
            <a:endParaRPr lang="en-US" altLang="zh-CN" sz="1100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安全审批(SSE二次确认) 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 审计脱敏(SHA-256) 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限流(Bucket4j) 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 可观测(Micrometer/健康探针/MDC/Step审计) 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 任务持久化(五态状态机)</a:t>
            </a:r>
          </a:p>
        </p:txBody>
      </p:sp>
    </p:spTree>
    <p:extLst>
      <p:ext uri="{BB962C8B-B14F-4D97-AF65-F5344CB8AC3E}">
        <p14:creationId xmlns:p14="http://schemas.microsoft.com/office/powerpoint/2010/main" val="2205288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90E45-C1C5-AD99-C2F5-541B7B2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9631F-5E92-D739-8B86-2E740FD32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5 个 Agent 职能详表</a:t>
            </a:r>
          </a:p>
        </p:txBody>
      </p:sp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B30AB461-BE71-426B-1DAC-4816D8EEB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414473"/>
              </p:ext>
            </p:extLst>
          </p:nvPr>
        </p:nvGraphicFramePr>
        <p:xfrm>
          <a:off x="838199" y="1741657"/>
          <a:ext cx="10183695" cy="28337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3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987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5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546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Agent 角色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组件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核心职责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运转状态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编排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MainAgent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意图识别、任务拆解、分派、聚合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每请求真实运行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执行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SubAgent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映射到25个工具或LLM对话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每子任务真实运行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反思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ReflectionEngine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失败诊断、重规划、异常自愈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开关治理（默认关）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进化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SkillCrystallizer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记忆经验、结晶可复用Skill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按阈值触发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推荐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CollaborativeFiltering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 err="1"/>
                        <a:t>按用户相似度协同推荐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 err="1"/>
                        <a:t>依赖数据积累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9F25C4A4-E941-74F7-7D4D-43BCCC842FFF}"/>
              </a:ext>
            </a:extLst>
          </p:cNvPr>
          <p:cNvSpPr txBox="1"/>
          <p:nvPr/>
        </p:nvSpPr>
        <p:spPr>
          <a:xfrm>
            <a:off x="759444" y="4575450"/>
            <a:ext cx="6097022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CN" altLang="zh-CN" sz="1275" b="1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AgentTeams 协同机制</a:t>
            </a: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：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编排 Agent 是协同中枢，统一收口所有 Agent 的生命周期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推荐 Agent 在拆解前注入协同信号（相似用户的成功经验）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进化 Agent 异步监听任务结果，达标触发结晶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反思 Agent 在失败路径上接管，与编排 Agent 协作完成自愈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执行 Agent 池化管理，按任务类型复用实例</a:t>
            </a:r>
          </a:p>
        </p:txBody>
      </p:sp>
    </p:spTree>
    <p:extLst>
      <p:ext uri="{BB962C8B-B14F-4D97-AF65-F5344CB8AC3E}">
        <p14:creationId xmlns:p14="http://schemas.microsoft.com/office/powerpoint/2010/main" val="2345595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1C6C-6BB8-0CEC-D82E-846B1417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E69E56-D496-D1C8-86CF-C8D1E85D2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任务拆解与端到端闭环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7C8606-AAD6-7F4A-F0C2-FD2BA8137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zh-CN" sz="2000" b="1" dirty="0">
                <a:solidFill>
                  <a:schemeClr val="bg2">
                    <a:lumMod val="50000"/>
                  </a:schemeClr>
                </a:solidFill>
              </a:rPr>
              <a:t>双路径并存，灰度切换</a:t>
            </a:r>
            <a:r>
              <a:rPr lang="zh-CN" altLang="zh-CN" sz="2000" dirty="0">
                <a:solidFill>
                  <a:schemeClr val="bg2">
                    <a:lumMod val="50000"/>
                  </a:schemeClr>
                </a:solidFill>
              </a:rPr>
              <a:t>：</a:t>
            </a:r>
          </a:p>
          <a:p>
            <a:pPr lvl="1"/>
            <a:r>
              <a:rPr lang="zh-CN" altLang="en-US" sz="1600" b="1" dirty="0">
                <a:solidFill>
                  <a:schemeClr val="accent2"/>
                </a:solidFill>
              </a:rPr>
              <a:t>主</a:t>
            </a:r>
            <a:r>
              <a:rPr lang="zh-CN" altLang="zh-CN" sz="1600" b="1" dirty="0">
                <a:solidFill>
                  <a:schemeClr val="accent2"/>
                </a:solidFill>
              </a:rPr>
              <a:t>路径：ToolUseLoop 推理引擎</a:t>
            </a:r>
            <a:endParaRPr lang="zh-CN" altLang="zh-CN" sz="1600" dirty="0">
              <a:solidFill>
                <a:schemeClr val="accent2"/>
              </a:solidFill>
            </a:endParaRP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LLM 作为推理引擎，收到 25 个工具的 JSON Schema 定义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自主决定：调哪个工具 → 观察结果 → 再推理 → 最多 10 轮（防死循环）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支持流式输出：reasoning（推理过程）→ tool_call（工具调用）→ tool_result（工具结果）→ text（最终回答）逐步推送到前端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实测验证：list_repos → search_docs → get_doc → 总结 4 轮自主串联，结果正确</a:t>
            </a:r>
          </a:p>
          <a:p>
            <a:pPr lvl="1"/>
            <a:r>
              <a:rPr lang="zh-CN" altLang="en-US" sz="1600" b="1" dirty="0">
                <a:solidFill>
                  <a:schemeClr val="accent2"/>
                </a:solidFill>
              </a:rPr>
              <a:t>备用</a:t>
            </a:r>
            <a:r>
              <a:rPr lang="zh-CN" altLang="zh-CN" sz="1600" b="1" dirty="0">
                <a:solidFill>
                  <a:schemeClr val="accent2"/>
                </a:solidFill>
              </a:rPr>
              <a:t>路径：规则路由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复合命令 → 规则直映射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自然语言 → LLM 意图解析（confidence≥0.6）→ Skill trigger 打分匹配 → 中文正则兜底 → chat 兜底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endParaRPr lang="zh-CN" altLang="zh-CN" sz="19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CN" altLang="zh-CN" sz="2000" b="1" dirty="0">
                <a:solidFill>
                  <a:schemeClr val="bg2">
                    <a:lumMod val="50000"/>
                  </a:schemeClr>
                </a:solidFill>
              </a:rPr>
              <a:t>上下文传递机制</a:t>
            </a:r>
          </a:p>
          <a:p>
            <a:pPr lvl="1"/>
            <a:r>
              <a:rPr lang="zh-CN" altLang="zh-CN" sz="1500" dirty="0">
                <a:solidFill>
                  <a:schemeClr val="bg2">
                    <a:lumMod val="50000"/>
                  </a:schemeClr>
                </a:solidFill>
              </a:rPr>
              <a:t>AgentContext：会话上下文（sessionId / userId / requestId）</a:t>
            </a:r>
          </a:p>
          <a:p>
            <a:pPr lvl="1"/>
            <a:r>
              <a:rPr lang="zh-CN" altLang="zh-CN" sz="1500" dirty="0">
                <a:solidFill>
                  <a:schemeClr val="bg2">
                    <a:lumMod val="50000"/>
                  </a:schemeClr>
                </a:solidFill>
              </a:rPr>
              <a:t>DocSysClient.copyWithSession()：per-session 客户端，携带 JSESSIONID，保证多用户隔离</a:t>
            </a:r>
          </a:p>
          <a:p>
            <a:pPr lvl="1"/>
            <a:r>
              <a:rPr lang="zh-CN" altLang="zh-CN" sz="1500" dirty="0">
                <a:solidFill>
                  <a:schemeClr val="bg2">
                    <a:lumMod val="50000"/>
                  </a:schemeClr>
                </a:solidFill>
              </a:rPr>
              <a:t>MDC 结构化日志：requestId / sessionId / userId 串联全链路</a:t>
            </a:r>
          </a:p>
          <a:p>
            <a:pPr lvl="1"/>
            <a:r>
              <a:rPr lang="zh-CN" altLang="zh-CN" sz="1500" dirty="0">
                <a:solidFill>
                  <a:schemeClr val="bg2">
                    <a:lumMod val="50000"/>
                  </a:schemeClr>
                </a:solidFill>
              </a:rPr>
              <a:t>会话历史注入：ToolUseLoop 加载最近 20 条对话历史，实现上下文延续</a:t>
            </a:r>
          </a:p>
          <a:p>
            <a:pPr marL="0" indent="0">
              <a:lnSpc>
                <a:spcPct val="100000"/>
              </a:lnSpc>
              <a:buNone/>
            </a:pPr>
            <a:endParaRPr lang="zh-CN" altLang="zh-CN" sz="1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3404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EC71A-6CA0-A4F5-4BB9-A7ECABDC7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A83B40-E752-F8F5-5C1F-708C12C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Skill 工程体系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134542-6F4A-893F-7F56-71C5C15E0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可插拔架构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</a:t>
            </a:r>
          </a:p>
          <a:p>
            <a:pPr lvl="1"/>
            <a:r>
              <a:rPr lang="zh-CN" altLang="zh-CN" dirty="0"/>
              <a:t>SkillExecutor 接口</a:t>
            </a:r>
          </a:p>
          <a:p>
            <a:pPr lvl="2"/>
            <a:r>
              <a:rPr lang="zh-CN" altLang="zh-CN" dirty="0"/>
              <a:t>    ├ @Order(100) DocSysSkillExecutor    —— 内置 Skill，Java handler → DocSysClient</a:t>
            </a:r>
          </a:p>
          <a:p>
            <a:pPr lvl="2"/>
            <a:r>
              <a:rPr lang="zh-CN" altLang="zh-CN" dirty="0"/>
              <a:t>    ├ @Order(200) ExternalSkillExecutor   —— 外部 Skill，从磁盘 skills/&lt;id&gt;/ 加载</a:t>
            </a:r>
          </a:p>
          <a:p>
            <a:pPr lvl="2"/>
            <a:r>
              <a:rPr lang="zh-CN" altLang="zh-CN" dirty="0"/>
              <a:t>    └── Spring 自动装配 SkillExecutorRegistry —— 新增执行器无需改调度器</a:t>
            </a:r>
          </a:p>
          <a:p>
            <a:r>
              <a:rPr lang="zh-CN" altLang="zh-CN" sz="2700" b="1" dirty="0">
                <a:solidFill>
                  <a:schemeClr val="bg2">
                    <a:lumMod val="50000"/>
                  </a:schemeClr>
                </a:solidFill>
              </a:rPr>
              <a:t>外部 Skill 三段式执行（fallback 链）：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Python 脚本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：__main__.py，ProcessBuilder + stdin/stdout JSON，超时可配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CLI Command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：解析 </a:t>
            </a:r>
            <a:r>
              <a:rPr lang="zh-CN" altLang="zh-CN" u="sng" dirty="0">
                <a:solidFill>
                  <a:schemeClr val="bg2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skill.md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 的 ## CLI Command 块，占位符插值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LLM Guidance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：读 </a:t>
            </a:r>
            <a:r>
              <a:rPr lang="zh-CN" altLang="zh-CN" u="sng" dirty="0">
                <a:solidFill>
                  <a:schemeClr val="bg2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agent.md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 + </a:t>
            </a:r>
            <a:r>
              <a:rPr lang="zh-CN" altLang="zh-CN" u="sng" dirty="0">
                <a:solidFill>
                  <a:schemeClr val="bg2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skill.md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 构造 system prompt 调 LLM</a:t>
            </a:r>
            <a:endParaRPr lang="zh-CN" altLang="zh-CN" dirty="0"/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标准对齐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  <a:p>
            <a:pPr lvl="1"/>
            <a:r>
              <a:rPr lang="zh-CN" altLang="zh-CN" u="sng" dirty="0">
                <a:hlinkClick r:id="rId2"/>
              </a:rPr>
              <a:t>SKILL.md</a:t>
            </a:r>
            <a:r>
              <a:rPr lang="zh-CN" altLang="zh-CN" dirty="0"/>
              <a:t> / </a:t>
            </a:r>
            <a:r>
              <a:rPr lang="zh-CN" altLang="zh-CN" u="sng" dirty="0">
                <a:hlinkClick r:id="rId3"/>
              </a:rPr>
              <a:t>agent.md</a:t>
            </a:r>
            <a:r>
              <a:rPr lang="zh-CN" altLang="zh-CN" dirty="0"/>
              <a:t>（</a:t>
            </a:r>
            <a:r>
              <a:rPr lang="zh-CN" altLang="zh-CN" u="sng" dirty="0">
                <a:hlinkClick r:id="rId4"/>
              </a:rPr>
              <a:t>agentskills.io</a:t>
            </a:r>
            <a:r>
              <a:rPr lang="zh-CN" altLang="zh-CN" dirty="0"/>
              <a:t> 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风格）双向解析与导出</a:t>
            </a:r>
            <a:endParaRPr lang="zh-CN" altLang="zh-CN" dirty="0"/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匹配与质量评估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Trigger 打分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：精确 1.0 → startsWith 0.8 → contains 0.6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可见性控制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：PUBLIC / TENANT / PRIVATE 三级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版本管理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：Skill 结晶自动生成版本号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安全边界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：toRealPath() + startsWith(skillsDir) 防路径穿越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  <a:p>
            <a:pPr lvl="1"/>
            <a:endParaRPr lang="zh-CN" altLang="zh-CN" dirty="0"/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复用价值</a:t>
            </a:r>
            <a:r>
              <a:rPr lang="zh-CN" altLang="en-US" dirty="0">
                <a:solidFill>
                  <a:schemeClr val="bg2">
                    <a:lumMod val="50000"/>
                  </a:schemeClr>
                </a:solidFill>
              </a:rPr>
              <a:t>：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第三方只需在 skills/&lt;id&gt;/ 目录放入</a:t>
            </a:r>
            <a:r>
              <a:rPr lang="zh-CN" altLang="zh-CN" dirty="0"/>
              <a:t> </a:t>
            </a:r>
            <a:r>
              <a:rPr lang="zh-CN" altLang="zh-CN" u="sng" dirty="0">
                <a:hlinkClick r:id="rId2"/>
              </a:rPr>
              <a:t>SKILL.md</a:t>
            </a:r>
            <a:r>
              <a:rPr lang="zh-CN" altLang="zh-CN" dirty="0"/>
              <a:t> 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+ 执行脚本，即可零代码扩展 Agent 能力，无需修改 Java 源码。</a:t>
            </a:r>
          </a:p>
        </p:txBody>
      </p:sp>
    </p:spTree>
    <p:extLst>
      <p:ext uri="{BB962C8B-B14F-4D97-AF65-F5344CB8AC3E}">
        <p14:creationId xmlns:p14="http://schemas.microsoft.com/office/powerpoint/2010/main" val="59058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DCFEA-5F59-420D-F085-86817EAEB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A33878-4DE6-96D3-187D-82658AA6C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工具集成与 MCP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793C9D3E-AE2F-43C9-43B2-1CE4B075C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8976" cy="4486275"/>
          </a:xfrm>
        </p:spPr>
        <p:txBody>
          <a:bodyPr>
            <a:normAutofit fontScale="55000" lnSpcReduction="20000"/>
          </a:bodyPr>
          <a:lstStyle/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25 个企业级工具（JSON Schema 定义，LLM 可见）：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endParaRPr lang="en-US" altLang="zh-CN" b="1" dirty="0"/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工具接入协议（等价 MCP 集成契约）：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每个工具 = ToolDefinition（name / description / parameters JSON Schema / executor / isWrite / needsConfirm）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DocSysClient 用 OkHttp 稳定封装 MxsDoc 后端 40+ 个 .do 接口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写工具统一 needsConfirm=true，走 SSE 审批门（WriteConfirmGate）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工具执行结果自动截断（4000 字符），防上下文溢出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工具调用全程 Step 审计（[ToolUseLoop][STEP] 结构化日志）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  <a:p>
            <a:pPr lvl="1"/>
            <a:endParaRPr lang="zh-CN" altLang="zh-CN" dirty="0"/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RAG 能力落地：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检索增强生成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：rag_chat 工具，走 DocSys RAG 管线（文档向量化 + 语义检索）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全文搜索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：search_docs 工具，走 DocSys 全文检索引擎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会话历史注入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：最近 20 条对话作为上下文增强</a:t>
            </a:r>
          </a:p>
          <a:p>
            <a:pPr lvl="1"/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用户记忆持久化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：memory_set/get/list 工具，跨会话记忆复用</a:t>
            </a:r>
          </a:p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BCA9169F-CA87-BEBE-21BC-A5DA20AE7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0216175"/>
              </p:ext>
            </p:extLst>
          </p:nvPr>
        </p:nvGraphicFramePr>
        <p:xfrm>
          <a:off x="1080778" y="2010805"/>
          <a:ext cx="1011908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525">
                  <a:extLst>
                    <a:ext uri="{9D8B030D-6E8A-4147-A177-3AD203B41FA5}">
                      <a16:colId xmlns:a16="http://schemas.microsoft.com/office/drawing/2014/main" val="2377326142"/>
                    </a:ext>
                  </a:extLst>
                </a:gridCol>
                <a:gridCol w="1382886">
                  <a:extLst>
                    <a:ext uri="{9D8B030D-6E8A-4147-A177-3AD203B41FA5}">
                      <a16:colId xmlns:a16="http://schemas.microsoft.com/office/drawing/2014/main" val="455363279"/>
                    </a:ext>
                  </a:extLst>
                </a:gridCol>
                <a:gridCol w="7109678">
                  <a:extLst>
                    <a:ext uri="{9D8B030D-6E8A-4147-A177-3AD203B41FA5}">
                      <a16:colId xmlns:a16="http://schemas.microsoft.com/office/drawing/2014/main" val="9025220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zh-CN" altLang="en-US" dirty="0"/>
                        <a:t>分组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数量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说明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084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/>
                        <a:t>只读工具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13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list_repos / get_doc / search_docs / get_doc_history / get_login_user / rag_chat / web_search / memory_get / memory_list …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6812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/>
                        <a:t>写工具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create_repos / delete_repos / create_doc / delete_doc / rename_doc / move_doc / upload_doc / lock_doc / memory_set …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9189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51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67059-C3D5-B027-AFEF-B6669B9D0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9BC6BF-62B2-5645-3947-A4D831B5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结果验证与异常处理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8EECF7-1494-D437-3A98-8E51FCFD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zh-CN" sz="2600" b="1" dirty="0">
                <a:solidFill>
                  <a:schemeClr val="bg2">
                    <a:lumMod val="50000"/>
                  </a:schemeClr>
                </a:solidFill>
              </a:rPr>
              <a:t>结果验证机制</a:t>
            </a:r>
            <a:r>
              <a:rPr lang="zh-CN" altLang="zh-CN" sz="2600" dirty="0">
                <a:solidFill>
                  <a:schemeClr val="bg2">
                    <a:lumMod val="50000"/>
                  </a:schemeClr>
                </a:solidFill>
              </a:rPr>
              <a:t>：</a:t>
            </a:r>
          </a:p>
          <a:p>
            <a:pPr lvl="1"/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编排层校验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：成功子任务数 ≥ 期望数 → 标记 COMPLETED</a:t>
            </a:r>
          </a:p>
          <a:p>
            <a:pPr lvl="1"/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SelfDiagnostics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：滑动窗口（200 条）计算成功率 + P50/P95/P99 延迟</a:t>
            </a:r>
            <a:r>
              <a:rPr lang="zh-CN" altLang="en-US" sz="1300" dirty="0">
                <a:solidFill>
                  <a:schemeClr val="bg2">
                    <a:lumMod val="50000"/>
                  </a:schemeClr>
                </a:solidFill>
              </a:rPr>
              <a:t>，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错误率 &gt; 30% 或 P95 &gt; 5s → 告警（30 分钟去重）</a:t>
            </a:r>
          </a:p>
          <a:p>
            <a:pPr lvl="1"/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ToolUseLoop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：LLM 自主验证工具返回结果，结果不符合预期 → 换策略重试</a:t>
            </a:r>
          </a:p>
          <a:p>
            <a:pPr lvl="1"/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防死循环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：MAX_TURNS=10 + MAX_IDENTICAL_CALLS=3 + MAX_MALFORMED=3</a:t>
            </a:r>
            <a:endParaRPr lang="en-US" altLang="zh-CN" sz="13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2600" b="1" dirty="0">
                <a:solidFill>
                  <a:schemeClr val="bg2">
                    <a:lumMod val="50000"/>
                  </a:schemeClr>
                </a:solidFill>
              </a:rPr>
              <a:t>异常分支全覆盖 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altLang="zh-CN" b="1" dirty="0"/>
          </a:p>
          <a:p>
            <a:endParaRPr lang="en-US" altLang="zh-CN" b="1" dirty="0"/>
          </a:p>
          <a:p>
            <a:endParaRPr lang="en-US" altLang="zh-CN" b="1" dirty="0"/>
          </a:p>
          <a:p>
            <a:pPr marL="0" indent="0">
              <a:buNone/>
            </a:pPr>
            <a:endParaRPr lang="en-US" altLang="zh-CN" b="1" dirty="0"/>
          </a:p>
          <a:p>
            <a:r>
              <a:rPr lang="zh-CN" altLang="zh-CN" sz="2600" b="1" dirty="0">
                <a:solidFill>
                  <a:schemeClr val="bg2">
                    <a:lumMod val="50000"/>
                  </a:schemeClr>
                </a:solidFill>
              </a:rPr>
              <a:t>可靠性保障</a:t>
            </a:r>
            <a:endParaRPr lang="en-US" altLang="zh-CN" sz="2600" b="1" dirty="0">
              <a:solidFill>
                <a:schemeClr val="bg2">
                  <a:lumMod val="50000"/>
                </a:schemeClr>
              </a:solidFill>
            </a:endParaRPr>
          </a:p>
          <a:p>
            <a:pPr lvl="1"/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MySQL/SQLite 持久化任务队列，五态状态机（PENDING / RUNNING / COMPLETED / FAILED / RETRY_PENDING），启动可恢复 stale 任务。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B05FB2E-17D6-AE23-5C1E-2C0C23BF2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063" y="3478096"/>
            <a:ext cx="5038016" cy="1679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912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B6227-90D6-DB6A-28D6-E81CB1909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20EDB2-6E29-DAD8-AE13-12E511E2D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安全边界与风险控制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EECEF9-172B-3DFB-080B-C43381F71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>
              <a:lnSpc>
                <a:spcPct val="100000"/>
              </a:lnSpc>
            </a:pPr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写操作审批闭环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zh-CN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审计与脱敏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仅审计写操作（降低存储与性能开销）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敏感字段（password / token / cookie / content …）SHA-256 哈希或 [REDACTED]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审计状态机：PENDING → APPROVED/REJECTED → COMPLETED/FAILED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Step 审计：每步工具调用记录 [ToolUseLoop][STEP] 结构化日志（sessionId / requestId / turn / tool / args / success / durationMs）</a:t>
            </a:r>
            <a:endParaRPr lang="zh-CN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限流保护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Bucket4j 令牌桶：per-IP / per-API-key 独立限流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每 IP 并发 SSE 连接限制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超限返回 429 + Retry-After 头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鉴权双模</a:t>
            </a:r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：</a:t>
            </a:r>
            <a:endParaRPr lang="en-US" altLang="zh-CN" dirty="0">
              <a:solidFill>
                <a:schemeClr val="bg2">
                  <a:lumMod val="50000"/>
                </a:schemeClr>
              </a:solidFill>
            </a:endParaRP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同源：共享 MxsDoc HttpSession，免 API Key</a:t>
            </a:r>
          </a:p>
          <a:p>
            <a:pPr lvl="1"/>
            <a:r>
              <a:rPr lang="zh-CN" altLang="zh-CN" dirty="0">
                <a:solidFill>
                  <a:schemeClr val="bg2">
                    <a:lumMod val="50000"/>
                  </a:schemeClr>
                </a:solidFill>
              </a:rPr>
              <a:t>对外：X-API-Key / Authorization: Bearer + 同源 session 双模</a:t>
            </a:r>
          </a:p>
          <a:p>
            <a:endParaRPr lang="en-US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zh-CN" altLang="zh-CN" sz="2600" b="1" dirty="0">
                <a:solidFill>
                  <a:schemeClr val="bg2">
                    <a:lumMod val="50000"/>
                  </a:schemeClr>
                </a:solidFill>
              </a:rPr>
              <a:t>风险控制总结</a:t>
            </a:r>
            <a:r>
              <a:rPr lang="zh-CN" altLang="zh-CN" sz="2600" dirty="0">
                <a:solidFill>
                  <a:schemeClr val="bg2">
                    <a:lumMod val="50000"/>
                  </a:schemeClr>
                </a:solidFill>
              </a:rPr>
              <a:t>：写操作不可绕过审批 → 不可跳过审计 → 不可突破限流 → 不可越权访问。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A4E6192-9B99-A75C-0C05-6E7AEAB39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456" y="2040417"/>
            <a:ext cx="3854638" cy="119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724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3A0B7-6361-F6AC-C604-4F11D60C9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1650ED-2013-4E77-5892-D1CA515F9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可观测性</a:t>
            </a:r>
          </a:p>
        </p:txBody>
      </p:sp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A5CA3E94-FB59-2A10-FC1A-6CBD0DE6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975005"/>
              </p:ext>
            </p:extLst>
          </p:nvPr>
        </p:nvGraphicFramePr>
        <p:xfrm>
          <a:off x="881158" y="1524039"/>
          <a:ext cx="10245063" cy="4814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9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0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50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81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能力</a:t>
                      </a:r>
                      <a:endParaRPr dirty="0"/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实现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指标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Micrometer：agent.tool.call / agent.execution Timer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已打点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健康探针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GET /api/agent/health：DocSys / LLM / Session 三探针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已实现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自诊断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SelfDiagnostics：P50/P95/P99 + 错误率阈值告警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每请求运行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结构化日志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MDC：requestId / sessionId / userId 串联全链路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已实现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Step 审计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[ToolUseLoop][STEP] 每步工具调用可回溯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已实现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执行证据链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 err="1"/>
                        <a:t>任务队列</a:t>
                      </a:r>
                      <a:r>
                        <a:rPr dirty="0"/>
                        <a:t> + </a:t>
                      </a:r>
                      <a:r>
                        <a:rPr dirty="0" err="1"/>
                        <a:t>审计表</a:t>
                      </a:r>
                      <a:r>
                        <a:rPr dirty="0"/>
                        <a:t> + Step </a:t>
                      </a:r>
                      <a:r>
                        <a:rPr dirty="0" err="1"/>
                        <a:t>日志</a:t>
                      </a:r>
                      <a:r>
                        <a:rPr dirty="0"/>
                        <a:t> → </a:t>
                      </a:r>
                      <a:r>
                        <a:rPr dirty="0" err="1"/>
                        <a:t>完整可复现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✅ </a:t>
                      </a:r>
                      <a:r>
                        <a:rPr dirty="0" err="1"/>
                        <a:t>可追溯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Prometheus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当前用内存 SimpleMeterRegistry，暴露端点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📋 </a:t>
                      </a:r>
                      <a:r>
                        <a:rPr dirty="0" err="1"/>
                        <a:t>计划</a:t>
                      </a:r>
                      <a:r>
                        <a:rPr lang="zh-CN" altLang="en-US" dirty="0"/>
                        <a:t>中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3893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TraceId 贯通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 err="1"/>
                        <a:t>字段预留，MDC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贯通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📋</a:t>
                      </a:r>
                      <a:r>
                        <a:rPr lang="en-US" dirty="0"/>
                        <a:t> </a:t>
                      </a:r>
                      <a:r>
                        <a:rPr lang="zh-CN" altLang="en-US" dirty="0"/>
                        <a:t>计划中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8669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可视化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多 Agent </a:t>
                      </a:r>
                      <a:r>
                        <a:rPr dirty="0" err="1"/>
                        <a:t>协同过程可视化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📋</a:t>
                      </a:r>
                      <a:r>
                        <a:rPr lang="en-US" dirty="0"/>
                        <a:t> </a:t>
                      </a:r>
                      <a:r>
                        <a:rPr lang="zh-CN" altLang="en-US" dirty="0"/>
                        <a:t>计划中</a:t>
                      </a:r>
                      <a:endParaRPr lang="en-US" altLang="zh-CN" dirty="0"/>
                    </a:p>
                    <a:p>
                      <a:pPr>
                        <a:defRPr sz="12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5213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02737-F4A6-8FFC-1E33-C2BDBC9AC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04A8D2-2718-5410-97FD-5DF3EA63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自进化能力</a:t>
            </a:r>
            <a:endParaRPr lang="zh-CN" altLang="zh-CN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9B6F54-EE81-EA49-552B-D93AF4B67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4720"/>
            <a:ext cx="10515600" cy="4351338"/>
          </a:xfrm>
        </p:spPr>
        <p:txBody>
          <a:bodyPr>
            <a:normAutofit fontScale="25000" lnSpcReduction="20000"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6200" b="1" dirty="0">
                <a:solidFill>
                  <a:schemeClr val="bg2">
                    <a:lumMod val="50000"/>
                  </a:schemeClr>
                </a:solidFill>
              </a:rPr>
              <a:t>经验记忆（真实运转）</a:t>
            </a:r>
            <a:r>
              <a:rPr lang="zh-CN" altLang="en-US" dirty="0">
                <a:solidFill>
                  <a:schemeClr val="bg2">
                    <a:lumMod val="50000"/>
                  </a:schemeClr>
                </a:solidFill>
              </a:rPr>
              <a:t>：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多层记忆记录每次执行结果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识别历史意图，复用成功经验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en-US" altLang="zh-CN" sz="4600" dirty="0" err="1">
                <a:solidFill>
                  <a:schemeClr val="bg2">
                    <a:lumMod val="50000"/>
                  </a:schemeClr>
                </a:solidFill>
              </a:rPr>
              <a:t>memory_set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/get/list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工具支持用户级持久记忆</a:t>
            </a:r>
            <a:endParaRPr lang="en-US" altLang="zh-CN" sz="4600" dirty="0">
              <a:solidFill>
                <a:schemeClr val="bg2">
                  <a:lumMod val="50000"/>
                </a:schemeClr>
              </a:solidFill>
            </a:endParaRP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endParaRPr lang="en-US" altLang="zh-CN" sz="4600" dirty="0">
              <a:solidFill>
                <a:schemeClr val="bg2">
                  <a:lumMod val="50000"/>
                </a:schemeClr>
              </a:solidFill>
            </a:endParaRPr>
          </a:p>
          <a:p>
            <a:pPr marL="781200" lvl="2">
              <a:lnSpc>
                <a:spcPct val="120000"/>
              </a:lnSpc>
              <a:spcBef>
                <a:spcPts val="0"/>
              </a:spcBef>
              <a:defRPr sz="1800"/>
            </a:pPr>
            <a:endParaRPr lang="zh-CN" alt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6400" b="1" dirty="0">
                <a:solidFill>
                  <a:schemeClr val="bg2">
                    <a:lumMod val="50000"/>
                  </a:schemeClr>
                </a:solidFill>
              </a:rPr>
              <a:t>技能结晶（从经验到可复用 </a:t>
            </a:r>
            <a:r>
              <a:rPr lang="en-US" altLang="zh-CN" sz="6400" b="1" dirty="0">
                <a:solidFill>
                  <a:schemeClr val="bg2">
                    <a:lumMod val="50000"/>
                  </a:schemeClr>
                </a:solidFill>
              </a:rPr>
              <a:t>Skill</a:t>
            </a:r>
            <a:r>
              <a:rPr lang="zh-CN" altLang="en-US" sz="6400" b="1" dirty="0">
                <a:solidFill>
                  <a:schemeClr val="bg2">
                    <a:lumMod val="50000"/>
                  </a:schemeClr>
                </a:solidFill>
              </a:rPr>
              <a:t>）：</a:t>
            </a:r>
            <a:endParaRPr lang="en-US" altLang="zh-CN" sz="6400" b="1" dirty="0">
              <a:solidFill>
                <a:schemeClr val="bg2">
                  <a:lumMod val="50000"/>
                </a:schemeClr>
              </a:solidFill>
            </a:endParaRP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4800" dirty="0">
                <a:solidFill>
                  <a:schemeClr val="bg2">
                    <a:lumMod val="50000"/>
                  </a:schemeClr>
                </a:solidFill>
              </a:rPr>
              <a:t>某任务类型重复成功 </a:t>
            </a:r>
            <a:r>
              <a:rPr lang="en-US" altLang="zh-CN" sz="4800" dirty="0">
                <a:solidFill>
                  <a:schemeClr val="bg2">
                    <a:lumMod val="50000"/>
                  </a:schemeClr>
                </a:solidFill>
              </a:rPr>
              <a:t>N </a:t>
            </a:r>
            <a:r>
              <a:rPr lang="zh-CN" altLang="en-US" sz="4800" dirty="0">
                <a:solidFill>
                  <a:schemeClr val="bg2">
                    <a:lumMod val="50000"/>
                  </a:schemeClr>
                </a:solidFill>
              </a:rPr>
              <a:t>次（阈值</a:t>
            </a:r>
            <a:r>
              <a:rPr lang="en-US" altLang="zh-CN" sz="4800" dirty="0">
                <a:solidFill>
                  <a:schemeClr val="bg2">
                    <a:lumMod val="50000"/>
                  </a:schemeClr>
                </a:solidFill>
              </a:rPr>
              <a:t>=3</a:t>
            </a:r>
            <a:r>
              <a:rPr lang="zh-CN" altLang="en-US" sz="4800" dirty="0">
                <a:solidFill>
                  <a:schemeClr val="bg2">
                    <a:lumMod val="50000"/>
                  </a:schemeClr>
                </a:solidFill>
              </a:rPr>
              <a:t>）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 → </a:t>
            </a:r>
            <a:r>
              <a:rPr lang="en-US" altLang="zh-CN" sz="4600" dirty="0" err="1">
                <a:solidFill>
                  <a:schemeClr val="bg2">
                    <a:lumMod val="50000"/>
                  </a:schemeClr>
                </a:solidFill>
              </a:rPr>
              <a:t>SkillCrystallizer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检查无内置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Skill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覆盖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 → 自动生成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SKILL.md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（含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name / description / trigger / version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）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 → </a:t>
            </a:r>
            <a:r>
              <a:rPr lang="en-US" altLang="zh-CN" sz="4600" dirty="0" err="1">
                <a:solidFill>
                  <a:schemeClr val="bg2">
                    <a:lumMod val="50000"/>
                  </a:schemeClr>
                </a:solidFill>
              </a:rPr>
              <a:t>EnhancedSkillManager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解析注册为新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Skill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  →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下次同类请求优先匹配，跳过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LLM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推理，直接执行</a:t>
            </a:r>
            <a:endParaRPr lang="en-US" altLang="zh-CN" sz="4600" dirty="0">
              <a:solidFill>
                <a:schemeClr val="bg2">
                  <a:lumMod val="50000"/>
                </a:schemeClr>
              </a:solidFill>
            </a:endParaRP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endParaRPr lang="zh-CN" altLang="en-US" sz="46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6400" b="1" dirty="0">
                <a:solidFill>
                  <a:schemeClr val="bg2">
                    <a:lumMod val="50000"/>
                  </a:schemeClr>
                </a:solidFill>
              </a:rPr>
              <a:t>自诊断（持续健康监控）：</a:t>
            </a:r>
          </a:p>
          <a:p>
            <a:pPr lvl="2">
              <a:lnSpc>
                <a:spcPct val="120000"/>
              </a:lnSpc>
              <a:spcAft>
                <a:spcPts val="600"/>
              </a:spcAft>
              <a:defRPr sz="1800"/>
            </a:pPr>
            <a:r>
              <a:rPr lang="zh-CN" altLang="en-US" sz="4800" dirty="0">
                <a:solidFill>
                  <a:schemeClr val="bg2">
                    <a:lumMod val="50000"/>
                  </a:schemeClr>
                </a:solidFill>
              </a:rPr>
              <a:t>滑动窗口实时统计成功率与延迟</a:t>
            </a:r>
          </a:p>
          <a:p>
            <a:pPr lvl="2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4400" dirty="0">
                <a:solidFill>
                  <a:schemeClr val="bg2">
                    <a:lumMod val="50000"/>
                  </a:schemeClr>
                </a:solidFill>
              </a:rPr>
              <a:t>异常自动告警，辅助运维决策</a:t>
            </a:r>
            <a:endParaRPr lang="en-US" altLang="zh-CN" sz="4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2911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80FE9-ACD6-CB22-8042-73DE90192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2ECCA5-05D9-61B6-7E18-18CFF38E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可行性与落地计划</a:t>
            </a:r>
            <a:endParaRPr lang="zh-CN" altLang="zh-CN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217276-AC91-F7BF-910A-978095F05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400" b="1" dirty="0">
                <a:solidFill>
                  <a:schemeClr val="bg2">
                    <a:lumMod val="50000"/>
                  </a:schemeClr>
                </a:solidFill>
              </a:rPr>
              <a:t>已完成（初赛阶段）：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Agent </a:t>
            </a:r>
            <a:r>
              <a:rPr lang="zh-CN" altLang="en-US" sz="1000" dirty="0"/>
              <a:t>合并进 </a:t>
            </a:r>
            <a:r>
              <a:rPr lang="en-US" altLang="zh-CN" sz="1000" dirty="0" err="1"/>
              <a:t>MxsDoc</a:t>
            </a:r>
            <a:r>
              <a:rPr lang="zh-CN" altLang="en-US" sz="1000" dirty="0"/>
              <a:t> 同一 </a:t>
            </a:r>
            <a:r>
              <a:rPr lang="en-US" altLang="zh-CN" sz="1000" dirty="0"/>
              <a:t>WAR</a:t>
            </a:r>
            <a:r>
              <a:rPr lang="zh-CN" altLang="en-US" sz="1000" dirty="0"/>
              <a:t>，共享会话</a:t>
            </a:r>
            <a:r>
              <a:rPr lang="en-US" altLang="zh-CN" sz="1000" dirty="0"/>
              <a:t>/</a:t>
            </a:r>
            <a:r>
              <a:rPr lang="zh-CN" altLang="en-US" sz="1000" dirty="0"/>
              <a:t>数据源</a:t>
            </a:r>
            <a:r>
              <a:rPr lang="en-US" altLang="zh-CN" sz="1000" dirty="0"/>
              <a:t>/LLM </a:t>
            </a:r>
            <a:r>
              <a:rPr lang="zh-CN" altLang="en-US" sz="1000" dirty="0"/>
              <a:t>配置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 err="1"/>
              <a:t>ToolUseLoop</a:t>
            </a:r>
            <a:r>
              <a:rPr lang="zh-CN" altLang="en-US" sz="1000" dirty="0"/>
              <a:t> 流式推理引擎为主路径，</a:t>
            </a:r>
            <a:r>
              <a:rPr lang="en-US" altLang="zh-CN" sz="1000" dirty="0"/>
              <a:t>LLM</a:t>
            </a:r>
            <a:r>
              <a:rPr lang="zh-CN" altLang="en-US" sz="1000" dirty="0"/>
              <a:t> 自主多轮工具调用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25 </a:t>
            </a:r>
            <a:r>
              <a:rPr lang="zh-CN" altLang="en-US" sz="1000" dirty="0"/>
              <a:t>个工具全部定义、注册、端到端验证通过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写操作 </a:t>
            </a:r>
            <a:r>
              <a:rPr lang="en-US" altLang="zh-CN" sz="1000" dirty="0"/>
              <a:t>SSE </a:t>
            </a:r>
            <a:r>
              <a:rPr lang="zh-CN" altLang="en-US" sz="1000" dirty="0"/>
              <a:t>二次确认 </a:t>
            </a:r>
            <a:r>
              <a:rPr lang="en-US" altLang="zh-CN" sz="1000" dirty="0"/>
              <a:t>+ SHA-256 </a:t>
            </a:r>
            <a:r>
              <a:rPr lang="zh-CN" altLang="en-US" sz="1000" dirty="0"/>
              <a:t>审计脱敏 </a:t>
            </a:r>
            <a:r>
              <a:rPr lang="en-US" altLang="zh-CN" sz="1000" dirty="0"/>
              <a:t>+ Bucket4j </a:t>
            </a:r>
            <a:r>
              <a:rPr lang="zh-CN" altLang="en-US" sz="1000" dirty="0"/>
              <a:t>限流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可插拔 </a:t>
            </a:r>
            <a:r>
              <a:rPr lang="en-US" altLang="zh-CN" sz="1000" dirty="0"/>
              <a:t>Skill </a:t>
            </a:r>
            <a:r>
              <a:rPr lang="zh-CN" altLang="en-US" sz="1000" dirty="0"/>
              <a:t>执行器 </a:t>
            </a:r>
            <a:r>
              <a:rPr lang="en-US" altLang="zh-CN" sz="1000" dirty="0"/>
              <a:t>+ SKILL.md </a:t>
            </a:r>
            <a:r>
              <a:rPr lang="zh-CN" altLang="en-US" sz="1000" dirty="0"/>
              <a:t>标准 </a:t>
            </a:r>
            <a:r>
              <a:rPr lang="en-US" altLang="zh-CN" sz="1000" dirty="0"/>
              <a:t>+ </a:t>
            </a:r>
            <a:r>
              <a:rPr lang="zh-CN" altLang="en-US" sz="1000" dirty="0"/>
              <a:t>外部 </a:t>
            </a:r>
            <a:r>
              <a:rPr lang="en-US" altLang="zh-CN" sz="1000" dirty="0"/>
              <a:t>Skill </a:t>
            </a:r>
            <a:r>
              <a:rPr lang="zh-CN" altLang="en-US" sz="1000" dirty="0"/>
              <a:t>三段式执行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Micrometer </a:t>
            </a:r>
            <a:r>
              <a:rPr lang="zh-CN" altLang="en-US" sz="1000" dirty="0"/>
              <a:t>指标 </a:t>
            </a:r>
            <a:r>
              <a:rPr lang="en-US" altLang="zh-CN" sz="1000" dirty="0"/>
              <a:t>+ </a:t>
            </a:r>
            <a:r>
              <a:rPr lang="zh-CN" altLang="en-US" sz="1000" dirty="0"/>
              <a:t>健康探针 </a:t>
            </a:r>
            <a:r>
              <a:rPr lang="en-US" altLang="zh-CN" sz="1000" dirty="0"/>
              <a:t>+ MDC </a:t>
            </a:r>
            <a:r>
              <a:rPr lang="zh-CN" altLang="en-US" sz="1000" dirty="0"/>
              <a:t>日志 </a:t>
            </a:r>
            <a:r>
              <a:rPr lang="en-US" altLang="zh-CN" sz="1000" dirty="0"/>
              <a:t>+ Step </a:t>
            </a:r>
            <a:r>
              <a:rPr lang="zh-CN" altLang="en-US" sz="1000" dirty="0"/>
              <a:t>审计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MySQL/SQLite </a:t>
            </a:r>
            <a:r>
              <a:rPr lang="zh-CN" altLang="en-US" sz="1000" dirty="0"/>
              <a:t>双方言 </a:t>
            </a:r>
            <a:r>
              <a:rPr lang="en-US" altLang="zh-CN" sz="1000" dirty="0"/>
              <a:t>+ </a:t>
            </a:r>
            <a:r>
              <a:rPr lang="zh-CN" altLang="en-US" sz="1000" dirty="0"/>
              <a:t>任务持久化五态状态机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249+ </a:t>
            </a:r>
            <a:r>
              <a:rPr lang="zh-CN" altLang="en-US" sz="1000" dirty="0"/>
              <a:t>单元测试全部通过</a:t>
            </a:r>
            <a:endParaRPr lang="zh-CN" altLang="en-US" sz="1400" b="1" dirty="0"/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400" b="1" dirty="0">
                <a:solidFill>
                  <a:schemeClr val="bg2">
                    <a:lumMod val="50000"/>
                  </a:schemeClr>
                </a:solidFill>
              </a:rPr>
              <a:t>复赛计划：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多 </a:t>
            </a:r>
            <a:r>
              <a:rPr lang="en-US" altLang="zh-CN" sz="1000" dirty="0"/>
              <a:t>Agent </a:t>
            </a:r>
            <a:r>
              <a:rPr lang="zh-CN" altLang="en-US" sz="1000" dirty="0"/>
              <a:t>协同可视化 </a:t>
            </a:r>
            <a:r>
              <a:rPr lang="en-US" altLang="zh-CN" sz="1000" dirty="0"/>
              <a:t>Trace </a:t>
            </a:r>
            <a:r>
              <a:rPr lang="zh-CN" altLang="en-US" sz="1000" dirty="0"/>
              <a:t>页面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打通 </a:t>
            </a:r>
            <a:r>
              <a:rPr lang="en-US" altLang="zh-CN" sz="1000" dirty="0" err="1"/>
              <a:t>traceId</a:t>
            </a:r>
            <a:r>
              <a:rPr lang="zh-CN" altLang="en-US" sz="1000" dirty="0"/>
              <a:t> 全链路（</a:t>
            </a:r>
            <a:r>
              <a:rPr lang="en-US" altLang="zh-CN" sz="1000" dirty="0"/>
              <a:t>MDC</a:t>
            </a:r>
            <a:r>
              <a:rPr lang="zh-CN" altLang="en-US" sz="1000" dirty="0"/>
              <a:t> 贯通）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暴露 </a:t>
            </a:r>
            <a:r>
              <a:rPr lang="en-US" altLang="zh-CN" sz="1000" dirty="0"/>
              <a:t>Prometheus </a:t>
            </a:r>
            <a:r>
              <a:rPr lang="zh-CN" altLang="en-US" sz="1000" dirty="0"/>
              <a:t>指标抓取端点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补充可复现部署脚本与样例证据包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补充端到端集成测试（覆盖异常分支）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整理 </a:t>
            </a:r>
            <a:r>
              <a:rPr lang="en-US" altLang="zh-CN" sz="1000" dirty="0"/>
              <a:t>Skill </a:t>
            </a:r>
            <a:r>
              <a:rPr lang="zh-CN" altLang="en-US" sz="1000" dirty="0"/>
              <a:t>开发者文档与贡献指南</a:t>
            </a:r>
          </a:p>
          <a:p>
            <a:pPr>
              <a:lnSpc>
                <a:spcPct val="100000"/>
              </a:lnSpc>
            </a:pPr>
            <a:endParaRPr lang="zh-CN" altLang="zh-CN" sz="1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4416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A63F6-478F-0235-2568-E5A8D078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418369-5A5D-A05A-E74B-744568517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sz="4000" b="1" dirty="0">
                <a:solidFill>
                  <a:schemeClr val="accent4">
                    <a:lumMod val="75000"/>
                  </a:schemeClr>
                </a:solidFill>
              </a:rPr>
              <a:t>开源</a:t>
            </a:r>
            <a:r>
              <a:rPr lang="zh-CN" altLang="en-US" sz="4000" b="1" dirty="0">
                <a:solidFill>
                  <a:schemeClr val="accent4">
                    <a:lumMod val="75000"/>
                  </a:schemeClr>
                </a:solidFill>
              </a:rPr>
              <a:t>计划</a:t>
            </a:r>
            <a:endParaRPr lang="zh-CN" altLang="zh-CN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B5D9CD-0EA9-FF54-BE53-9F625B28CD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项目已在 Gitee 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和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GitHub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上</a:t>
            </a:r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开源</a:t>
            </a:r>
            <a:r>
              <a:rPr lang="zh-CN" altLang="zh-CN" dirty="0"/>
              <a:t>：</a:t>
            </a:r>
            <a:r>
              <a:rPr lang="en-US" altLang="zh-CN" dirty="0"/>
              <a:t>	</a:t>
            </a:r>
            <a:r>
              <a:rPr lang="zh-CN" altLang="zh-CN" u="sng" dirty="0">
                <a:hlinkClick r:id="rId2"/>
              </a:rPr>
              <a:t>https://gitee.com/RainyGao/DocSys</a:t>
            </a:r>
            <a:endParaRPr lang="zh-CN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en-US" altLang="zh-CN" dirty="0">
                <a:hlinkClick r:id="rId3"/>
              </a:rPr>
              <a:t>https://github.com/RainyGao-GitHub/DocSys</a:t>
            </a:r>
            <a:endParaRPr lang="en-US" altLang="zh-CN" dirty="0"/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许可证：GPL 2.0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b="1" dirty="0">
                <a:solidFill>
                  <a:schemeClr val="bg2">
                    <a:lumMod val="50000"/>
                  </a:schemeClr>
                </a:solidFill>
              </a:rPr>
              <a:t>Agent 模块完整源码在 src/com/DocSystem/agent/ 下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4613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BEABE-D080-29E2-5841-4BB099260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F58D44-33D7-E1BE-4E62-59FADFCB9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b="1" dirty="0">
                <a:solidFill>
                  <a:schemeClr val="accent4">
                    <a:lumMod val="75000"/>
                  </a:schemeClr>
                </a:solidFill>
                <a:latin typeface="+mj-ea"/>
              </a:rPr>
              <a:t>MXSDOC </a:t>
            </a:r>
            <a:r>
              <a:rPr lang="en-US" altLang="zh-CN" sz="4000" b="1" dirty="0">
                <a:solidFill>
                  <a:srgbClr val="7030A0"/>
                </a:solidFill>
                <a:latin typeface="+mj-ea"/>
              </a:rPr>
              <a:t>AI</a:t>
            </a:r>
            <a:endParaRPr lang="zh-CN" altLang="zh-CN" sz="4000" b="1" dirty="0">
              <a:solidFill>
                <a:schemeClr val="accent4">
                  <a:lumMod val="75000"/>
                </a:schemeClr>
              </a:solidFill>
              <a:latin typeface="+mj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83942A-4831-CB9B-B826-8E4254406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zh-CN" sz="4000" b="1" dirty="0">
                <a:solidFill>
                  <a:schemeClr val="accent5"/>
                </a:solidFill>
              </a:rPr>
              <a:t>从文档系统出发，通向通用多 Agent 协同基座</a:t>
            </a:r>
            <a:endParaRPr lang="en-US" altLang="zh-CN" sz="4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CN" sz="4000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zh-CN" altLang="zh-CN" sz="1800" b="1" dirty="0">
                <a:solidFill>
                  <a:schemeClr val="accent4">
                    <a:lumMod val="75000"/>
                  </a:schemeClr>
                </a:solidFill>
              </a:rPr>
              <a:t>MxsDoc </a:t>
            </a:r>
            <a:r>
              <a:rPr lang="zh-CN" altLang="zh-CN" sz="1800" b="1" dirty="0">
                <a:solidFill>
                  <a:srgbClr val="7030A0"/>
                </a:solidFill>
              </a:rPr>
              <a:t>AI </a:t>
            </a:r>
            <a:r>
              <a:rPr lang="zh-CN" altLang="zh-CN" sz="1800" dirty="0">
                <a:solidFill>
                  <a:schemeClr val="bg2">
                    <a:lumMod val="50000"/>
                  </a:schemeClr>
                </a:solidFill>
              </a:rPr>
              <a:t>用一个真实运行的开源文档系统，证明多 Agent 能在企业生产环境里</a:t>
            </a:r>
            <a:r>
              <a:rPr lang="zh-CN" altLang="zh-CN" sz="1800" b="1" dirty="0">
                <a:solidFill>
                  <a:schemeClr val="accent2"/>
                </a:solidFill>
              </a:rPr>
              <a:t>可信</a:t>
            </a:r>
            <a:r>
              <a:rPr lang="zh-CN" altLang="zh-CN" sz="1800" dirty="0">
                <a:solidFill>
                  <a:schemeClr val="accent2"/>
                </a:solidFill>
              </a:rPr>
              <a:t>、</a:t>
            </a:r>
            <a:r>
              <a:rPr lang="zh-CN" altLang="zh-CN" sz="1800" b="1" dirty="0">
                <a:solidFill>
                  <a:schemeClr val="accent2"/>
                </a:solidFill>
              </a:rPr>
              <a:t>可控</a:t>
            </a:r>
            <a:r>
              <a:rPr lang="zh-CN" altLang="zh-CN" sz="1800" dirty="0">
                <a:solidFill>
                  <a:schemeClr val="accent2"/>
                </a:solidFill>
              </a:rPr>
              <a:t>、</a:t>
            </a:r>
            <a:r>
              <a:rPr lang="zh-CN" altLang="zh-CN" sz="1800" b="1" dirty="0">
                <a:solidFill>
                  <a:schemeClr val="accent2"/>
                </a:solidFill>
              </a:rPr>
              <a:t>可观测</a:t>
            </a:r>
            <a:r>
              <a:rPr lang="zh-CN" altLang="zh-CN" sz="1800" dirty="0">
                <a:solidFill>
                  <a:schemeClr val="bg2">
                    <a:lumMod val="50000"/>
                  </a:schemeClr>
                </a:solidFill>
              </a:rPr>
              <a:t>地协同工作，是 249+ 测试护航、端到端验证通过的生产级基座。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zh-CN" sz="4000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CN" sz="4000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zh-CN" altLang="en-US" sz="4000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zh-CN" altLang="zh-CN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45438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8C0753DB6F56C6A06BC24F53ACF02916487670C649B98103C3131F4E87222AD0" val="[{&quot;GradientColorId&quot;:&quot;&quot;,&quot;IsFree&quot;:true,&quot;IsGradient&quot;:false,&quot;ImagePath&quot;:&quot;&quot;,&quot;GradientColor&quot;:null,&quot;SimpleColor&quot;:&quot;#3B3838&quot;},{&quot;GradientColorId&quot;:&quot;&quot;,&quot;IsFree&quot;:true,&quot;IsGradient&quot;:false,&quot;ImagePath&quot;:&quot;&quot;,&quot;GradientColor&quot;:null,&quot;SimpleColor&quot;:&quot;#00B050&quot;}]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4586</Words>
  <Application>Microsoft Office PowerPoint</Application>
  <PresentationFormat>宽屏</PresentationFormat>
  <Paragraphs>269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微软雅黑</vt:lpstr>
      <vt:lpstr>Arial</vt:lpstr>
      <vt:lpstr>Calibri</vt:lpstr>
      <vt:lpstr>Lato</vt:lpstr>
      <vt:lpstr>WPS</vt:lpstr>
      <vt:lpstr>MXSDOC AI —— 基于 AgentTeams 的企业文档多 Agent 协同基座</vt:lpstr>
      <vt:lpstr>问题与场景</vt:lpstr>
      <vt:lpstr>核心价值</vt:lpstr>
      <vt:lpstr>系统架构</vt:lpstr>
      <vt:lpstr>5 个 Agent 职能详表</vt:lpstr>
      <vt:lpstr>任务拆解与端到端闭环</vt:lpstr>
      <vt:lpstr>Skill 工程体系</vt:lpstr>
      <vt:lpstr>工具集成与 MCP</vt:lpstr>
      <vt:lpstr>结果验证与异常处理</vt:lpstr>
      <vt:lpstr>安全边界与风险控制</vt:lpstr>
      <vt:lpstr>可观测性</vt:lpstr>
      <vt:lpstr>自进化能力</vt:lpstr>
      <vt:lpstr>可行性与落地计划</vt:lpstr>
      <vt:lpstr>开源计划</vt:lpstr>
      <vt:lpstr>MXSDOC AI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65205</dc:creator>
  <cp:lastModifiedBy>652055239@qq.com</cp:lastModifiedBy>
  <cp:revision>9</cp:revision>
  <dcterms:created xsi:type="dcterms:W3CDTF">2023-08-09T12:44:55Z</dcterms:created>
  <dcterms:modified xsi:type="dcterms:W3CDTF">2026-08-03T07:40:02Z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2052-12.1.0.15259</vt:lpwstr>
  </property>
</Properties>
</file>